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74" r:id="rId2"/>
    <p:sldId id="262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39" r:id="rId23"/>
    <p:sldId id="340" r:id="rId24"/>
    <p:sldId id="353" r:id="rId25"/>
    <p:sldId id="341" r:id="rId26"/>
    <p:sldId id="304" r:id="rId27"/>
    <p:sldId id="306" r:id="rId28"/>
    <p:sldId id="307" r:id="rId29"/>
    <p:sldId id="308" r:id="rId30"/>
    <p:sldId id="342" r:id="rId31"/>
    <p:sldId id="310" r:id="rId32"/>
    <p:sldId id="343" r:id="rId33"/>
    <p:sldId id="311" r:id="rId34"/>
    <p:sldId id="313" r:id="rId35"/>
    <p:sldId id="312" r:id="rId36"/>
    <p:sldId id="257" r:id="rId37"/>
    <p:sldId id="258" r:id="rId38"/>
    <p:sldId id="357" r:id="rId39"/>
    <p:sldId id="370" r:id="rId40"/>
    <p:sldId id="369" r:id="rId41"/>
    <p:sldId id="371" r:id="rId42"/>
    <p:sldId id="373" r:id="rId43"/>
    <p:sldId id="372" r:id="rId44"/>
    <p:sldId id="396" r:id="rId45"/>
    <p:sldId id="397" r:id="rId46"/>
    <p:sldId id="398" r:id="rId47"/>
    <p:sldId id="399" r:id="rId48"/>
    <p:sldId id="400" r:id="rId49"/>
    <p:sldId id="293" r:id="rId50"/>
    <p:sldId id="296" r:id="rId51"/>
    <p:sldId id="298" r:id="rId52"/>
    <p:sldId id="294" r:id="rId53"/>
    <p:sldId id="352" r:id="rId54"/>
    <p:sldId id="374" r:id="rId55"/>
    <p:sldId id="375" r:id="rId56"/>
    <p:sldId id="376" r:id="rId57"/>
    <p:sldId id="297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3" autoAdjust="0"/>
    <p:restoredTop sz="94660"/>
  </p:normalViewPr>
  <p:slideViewPr>
    <p:cSldViewPr snapToGrid="0">
      <p:cViewPr varScale="1">
        <p:scale>
          <a:sx n="97" d="100"/>
          <a:sy n="97" d="100"/>
        </p:scale>
        <p:origin x="4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3:14:54.0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1 120 9830,'0'2'71,"0"0"0,1 0 0,0 0-1,-1 0 1,1 0 0,0 0 0,0 0 0,0 0 0,0 0-1,0 0 1,0-1 0,1 1 0,-1 0 0,1-1 0,-1 1-1,1-1 1,-1 0 0,4 3 0,34 17 729,-9-9-290,-1 2 0,0 1 0,-1 1 0,-1 1 0,27 22 0,-53-38-473,0 1-1,1-1 1,0 0-1,-1 1 1,1-1-1,0 0 1,0 0-1,-1 0 1,1 0-1,0 0 1,0-1-1,0 1 1,0-1-1,0 1 0,0-1 1,0 0-1,0 1 1,1-1-1,2-1 1,-2 0-46,-1 0 0,1 0-1,-1 0 1,0 0 0,1-1 0,-1 1 0,0-1 0,0 1 0,0-1 0,0 0 0,0 0-1,-1 0 1,1 0 0,-1 0 0,3-3 0,10-19-180,-1 0 0,14-35 0,6-13-235,-26 57 264,9-31 0,-9 26 44,-1 3 92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3:14:56.6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0 214 9830,'9'1'262,"1"0"1,-1 1-1,0 0 0,-1 1 0,1 0 1,16 7-1,-5-1 40,12 9 251,-27-14-417,1-1 0,-1 0 0,1 0 0,-1 0 0,10 2 0,-13-4-118,0-1-1,0 0 1,-1 0 0,1 1-1,0-1 1,0-1-1,0 1 1,0 0 0,0 0-1,0-1 1,0 1 0,-1-1-1,1 1 1,0-1-1,0 0 1,-1 0 0,1 0-1,0 0 1,-1 0 0,1 0-1,-1 0 1,3-2 0,1-3-51,-1 0 0,1 0 0,-1 0 0,0-1 0,-1 0 0,1 1 1,-1-1-1,-1 0 0,1-1 0,-1 1 0,0 0 0,1-16 0,-1 11-33,1 0-1,0-1 0,7-15 0,21-63-260,-26 79 316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3:14:59.0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 9830,'120'117'3133,"-120"-116"-3129,8 7 175,0-1-1,0 0 0,1 0 1,14 9-1,-20-15-146,-1 0 0,1 0 0,-1 1 0,1-2-1,0 1 1,0 0 0,-1-1 0,1 1 0,0-1 0,0 0 0,-1 0 0,1 0-1,0 0 1,0 0 0,0 0 0,-1-1 0,1 0 0,0 1 0,-1-1 0,1 0-1,0 0 1,4-3 0,13-11-108,0 0-1,0-1 0,-2-1 0,27-30 1,-23 23-87,-16 19 263,-1 1 0,1-1 0,0 1 0,0 0 0,8-4 0,1 0-52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3:16:02.9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158 10 9830,'0'0'9,"0"0"0,0 0-1,0 1 1,0-1 0,0 0 0,-1 0 0,1 1-1,0-1 1,0 0 0,0 0 0,-1 0-1,1 1 1,0-1 0,0 0 0,-1 0 0,1 0-1,0 0 1,0 0 0,-1 0 0,1 0-1,0 1 1,0-1 0,-1 0 0,1 0 0,0 0-1,0 0 1,-1 0 0,1 0 0,0 0-1,-1 0 1,1 0 0,0-1 0,0 1 0,-1 0-1,1 0 1,0 0 0,0 0 0,-1 0-1,1 0 1,0 0 0,0-1 0,0 1 0,-1 0-1,1 0 1,0 0 0,0-1 0,0 1-1,-1 0 1,1 0 0,0 0 0,0-1 0,0 1-1,0 0 1,0 0 0,0-1 0,-1 1-1,1 0 1,0 0 0,0-1 0,0 1 0,0 0-1,0-1 1,0 1 0,0 0 0,0 0-1,0-1 1,0 1 0,0 0 0,1-1-1,-16 18 743,-25 58 720,-24 42 609,37-65-1242,28-67-870,7-13-192,36-57-260,-9 18 179,-32 60 300,0 1 0,1 0 0,-1-1 0,1 1 0,1 0 0,-1 1 0,1-1-1,8-7 1,-11 12 36,-1 0-1,1 0 1,-1 0 0,1 0-1,-1 1 1,1-1-1,-1 0 1,1 1-1,-1-1 1,1 1-1,0 0 1,-1-1-1,1 1 1,0 0-1,0 0 1,2 1-1,-2-1 2,0 1 1,0 0-1,1-1 0,-1 1 0,0 1 1,0-1-1,0 0 0,0 0 0,0 1 0,-1-1 1,1 1-1,0-1 0,-1 1 0,1 0 1,1 2-1,7 10 229,0 1 1,10 25-1,6 7 289,-17-32-516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3:16:05.2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162 8 9830,'-149'154'3777,"136"-137"-3172,24-20-5,25-21-574,-23 15-127,44-34-10,-52 38 91,1 0 1,-1-1 0,0 0-1,-1 1 1,1-1-1,-1-1 1,5-8-1,-8 11 22,1 0 0,0 1-1,0 0 1,0-1 0,0 1 0,1 0-1,-1 0 1,1 0 0,0 1 0,5-5-1,-7 6 25,0 0 0,1 1-1,-1-1 1,1 0 0,-1 1-1,1 0 1,-1-1 0,1 1 0,-1 0-1,1 0 1,-1-1 0,1 1-1,-1 0 1,1 1 0,0-1-1,-1 0 1,1 0 0,-1 1-1,1-1 1,-1 1 0,1-1 0,-1 1-1,0 0 1,1-1 0,-1 1-1,0 0 1,1 0 0,1 2-1,7 6 204,0 1 0,0 1-1,15 21 1,-18-22-100,0 0 0,1-1 0,1 0 1,-1 0-1,13 9 0,-6-9-96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3:16:07.1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1 9830,'0'0'24,"-1"0"1,1 0-1,-1 0 0,1 0 1,-1 0-1,1 1 0,-1-1 1,1 0-1,0 0 0,-1 1 1,1-1-1,0 0 0,-1 0 1,1 1-1,-1-1 0,1 0 1,0 1-1,0-1 0,-1 1 1,1-1-1,0 0 0,0 1 1,0-1-1,-1 1 0,1-1 1,0 1-1,0-1 0,0 1 1,0-1-1,0 0 0,0 1 1,0-1-1,0 1 0,0-1 1,0 1-1,0-1 0,0 1 1,0-1-1,0 1 0,0-1 1,1 1-1,-1-1 0,0 0 1,0 1-1,1 0 0,9 22 449,-9-20-423,0-1 0,1 1 0,0-1 0,0 1 0,-1-1 0,1 0-1,1 0 1,-1 1 0,0-1 0,1-1 0,-1 1 0,1 0 0,-1-1 0,1 1 0,0-1 0,5 2 0,0-1 110,1 0 0,-1-1-1,1 0 1,12-1-1,-15 0-55,0 0-1,0 0 1,0 0-1,0 1 1,0 0-1,-1 0 1,1 0-1,0 1 0,-1 0 1,1 0-1,10 6 1,-15-7-65,1 0 0,-1 0 1,1 0-1,-1 0 0,1 1 0,-1-1 1,0 0-1,0 1 0,0-1 0,0 1 0,0 0 1,0-1-1,0 1 0,0 0 0,-1 0 1,1-1-1,0 1 0,-1 0 0,0 0 1,1 0-1,-1 0 0,0 0 0,0 0 1,0 0-1,0-1 0,-1 5 0,0-3 23,-1 0-1,1 1 0,0-1 1,-1 0-1,0-1 0,1 1 0,-1 0 1,0 0-1,-1-1 0,1 1 1,0-1-1,-1 0 0,0 1 1,-3 1-1,3-2-15,-17 12 511,-21 18 0,30-21-512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3:16:09.6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1 9830,'-1'0'54,"0"0"0,0 1-1,0-1 1,0 0 0,0 1-1,0-1 1,0 1 0,0 0 0,0-1-1,1 1 1,-1 0 0,0-1-1,0 1 1,1 0 0,-1 0 0,0 0-1,1 0 1,-1-1 0,0 3 0,-10 20 301,5-3 97,1 1 0,-5 34 0,5-25-57,1-6 99,0 1 0,2-1 0,1 30 0,2-50-418,0-1 0,0 1 0,0 0 0,1-1 0,-1 1 0,1 0 0,0-1 0,0 0-1,0 1 1,1-1 0,-1 0 0,1 0 0,0-1 0,-1 1 0,1 0 0,0-1 0,4 3 0,-3-3 12,-1 1 0,1-1 0,0 0 1,-1 0-1,1 0 0,0 0 0,0-1 0,0 0 1,0 0-1,1 0 0,-1 0 0,0 0 1,0-1-1,1 0 0,5 0 0,-1-3-15,0 0 0,0-1 0,0 0 0,-1 0-1,14-9 1,15-8 370,-21 14-304,1 1-1,0 0 0,0 1 0,1 1 0,-1 1 1,1 1-1,0 0 0,19 1 0,-17 1-115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B93A4-D673-4602-937D-06C8088C1E52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4597E-2521-42B4-9FDA-0C56CA13B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976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4597E-2521-42B4-9FDA-0C56CA13B7D1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469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91874-B9BF-ED72-AD94-FCF8CDE80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A3E78-34E3-8AD2-2ACD-80AC08247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D4CC6-A068-5770-69E5-2D95070B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0853E-8628-F4C2-D3FC-9C729FEB4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75EBA-2381-D135-12E0-F3DD76A9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79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EF270-EAA4-21CC-4DA5-B6E0E17C3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B680-EDFD-047F-F3BC-C64595964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AB3DB-E4F7-E249-6AEB-461C86F9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48FD9-BC1F-0EC7-1000-7B82A40B0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5EDBD-D3F3-0787-63D7-5FAC2CE3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90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C5366-C549-FC61-B4A0-058565DBE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79100-D9A7-FF44-C6A2-FC9B39463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6918F-59CD-9B91-2C21-066B9103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410C5-6B03-F811-77FB-4A92DF96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060E3-AB99-62FE-ADAE-A4F3AEB1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89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09DB-2692-52B2-ADB9-B6007EDFD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30456-2543-2065-D345-10FC095D8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C7B06-EA48-5C41-B64D-6311A0D31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95089-614C-A6EE-5D00-6F2CEE5A6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D684B-D483-C2CE-64C0-C912A308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230A1-A975-9A7A-CAE2-0362EBB13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6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D997-0663-CAFA-0CD4-06D888F6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9F3DA-E120-A205-2654-D173D6960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8718E-9CD1-E8BB-F88C-B3FC6047A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24EAC-B5FD-61B5-13BF-3602F716DF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878E09-9E56-4BCE-F529-8059F7F73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44D18F-85FA-370C-C424-B770D2AC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9B4284-C28D-D016-1011-8B0FA3E6C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7826F-2F1F-03A2-74DF-15DFDA62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881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9BC4-5C4D-C6E4-6B06-CB18F83E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A9968-4D46-9771-E1F4-792937EB5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C3F80-315F-1F0C-1497-FB2451AFA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C98DE-4277-4D6F-6192-7AFA37415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50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B0CFC-0248-CED6-36D1-B9E55C6C5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B29EA-4A0F-B6A9-2567-023D7C77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ACEDB-1F18-B36A-B53F-DEED2408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4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BF19-020B-1F2A-217E-1FB157146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9AD1C-2AB3-C7E5-806E-D05722F3D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00B4A-B1E6-A61C-B76A-FC16091A7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A0658-28A6-C04B-2E75-C747F45D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4A0CE-7CDD-C187-8056-6259EB66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FEE6F-8EFB-22BB-08BE-0F158CF18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64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CD85-0BE3-3BDB-3EF9-17397EBD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9A5763-2384-96DE-EB25-879B03057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79A88-9EDE-005E-2ADF-57E236286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D868B-5E4E-5BE6-B60B-0062E4CC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03696-6723-C56D-C753-D41BF3E0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6C8E8-DD60-4542-400A-A46772745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55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E1357-5908-DBD2-B4E0-110F741AE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65BD4-FEBA-967D-3C92-2B297B2EF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61A8-7F7C-D59E-078C-FE65A399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C1F83-C768-016B-4729-AD191E319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513F3-6434-F40A-ACC9-174035D0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9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5F2ECD-7F17-7CFA-9829-69FD6A768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99DA4-3BAC-6660-DDC0-10B3115AC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F80CF-1849-7B70-E656-DEBDB49C3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29C03-BA8C-60F7-0D01-6375E6A0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86452-E913-B79B-0E6E-4E1F7390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39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912B63-2AFF-14DC-5754-0AC5F904AE97}"/>
              </a:ext>
            </a:extLst>
          </p:cNvPr>
          <p:cNvCxnSpPr/>
          <p:nvPr userDrawn="1"/>
        </p:nvCxnSpPr>
        <p:spPr>
          <a:xfrm>
            <a:off x="0" y="5956917"/>
            <a:ext cx="121920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2" descr="No photo description available.">
            <a:extLst>
              <a:ext uri="{FF2B5EF4-FFF2-40B4-BE49-F238E27FC236}">
                <a16:creationId xmlns:a16="http://schemas.microsoft.com/office/drawing/2014/main" id="{44F50328-4932-EA8A-E0DE-64C967826A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01" y="6003525"/>
            <a:ext cx="690402" cy="82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7EA8FC-E571-4400-5803-CBAD9E9A2321}"/>
              </a:ext>
            </a:extLst>
          </p:cNvPr>
          <p:cNvSpPr txBox="1"/>
          <p:nvPr userDrawn="1"/>
        </p:nvSpPr>
        <p:spPr>
          <a:xfrm>
            <a:off x="3488924" y="6152506"/>
            <a:ext cx="5214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COEP Technological University</a:t>
            </a:r>
          </a:p>
        </p:txBody>
      </p:sp>
    </p:spTree>
    <p:extLst>
      <p:ext uri="{BB962C8B-B14F-4D97-AF65-F5344CB8AC3E}">
        <p14:creationId xmlns:p14="http://schemas.microsoft.com/office/powerpoint/2010/main" val="173618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20952-F1C2-22E3-8906-0259A38AF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DD87C-1FE9-AC5C-2EBC-6058D5698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02020-424C-B998-82BC-DC969EB22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1317F-7194-48C2-9BD7-0822BE37DB8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5CC4-A0A1-F4DF-4849-CC399EC73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D6200-2750-98F4-662E-065825767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C135B-FFDB-4471-A96C-E84F6B491F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6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0.png"/><Relationship Id="rId4" Type="http://schemas.openxmlformats.org/officeDocument/2006/relationships/image" Target="../media/image45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1.png"/><Relationship Id="rId2" Type="http://schemas.openxmlformats.org/officeDocument/2006/relationships/image" Target="../media/image61.png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82.png"/><Relationship Id="rId4" Type="http://schemas.openxmlformats.org/officeDocument/2006/relationships/image" Target="../media/image510.png"/><Relationship Id="rId9" Type="http://schemas.openxmlformats.org/officeDocument/2006/relationships/customXml" Target="../ink/ink4.xml"/><Relationship Id="rId14" Type="http://schemas.openxmlformats.org/officeDocument/2006/relationships/image" Target="../media/image10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E1BD5-3CE4-9CA3-3F3D-AB675432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124864-09F9-C570-B49D-EFF146CF4648}"/>
              </a:ext>
            </a:extLst>
          </p:cNvPr>
          <p:cNvSpPr txBox="1"/>
          <p:nvPr/>
        </p:nvSpPr>
        <p:spPr>
          <a:xfrm>
            <a:off x="1054660" y="1458384"/>
            <a:ext cx="10082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Active BMS Design for Commercial</a:t>
            </a:r>
            <a:r>
              <a:rPr lang="en-US" sz="5400" i="0" u="none" strike="noStrike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Battery Packs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BC676F-F248-92FF-9CFF-0E02E98D3F8A}"/>
              </a:ext>
            </a:extLst>
          </p:cNvPr>
          <p:cNvSpPr txBox="1"/>
          <p:nvPr/>
        </p:nvSpPr>
        <p:spPr>
          <a:xfrm>
            <a:off x="271233" y="4119852"/>
            <a:ext cx="931260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0" indent="457200"/>
            <a:r>
              <a:rPr lang="en-GB" sz="2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" panose="020F0502020204030203" pitchFamily="34" charset="0"/>
              </a:rPr>
              <a:t>		</a:t>
            </a:r>
            <a:r>
              <a:rPr lang="en-GB" sz="2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23: </a:t>
            </a: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Shivam Hallale – 612305027</a:t>
            </a:r>
          </a:p>
          <a:p>
            <a:pPr marL="1828800" indent="457200" rtl="0">
              <a:buNone/>
            </a:pP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  </a:t>
            </a:r>
            <a:r>
              <a:rPr lang="en-GB" sz="2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Kaustubh Joshi - 612305035</a:t>
            </a:r>
            <a:endParaRPr lang="en-GB" sz="20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0" indent="457200" rtl="0">
              <a:buNone/>
            </a:pPr>
            <a:r>
              <a:rPr lang="en-GB" sz="2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		   </a:t>
            </a: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Siya </a:t>
            </a:r>
            <a:r>
              <a:rPr lang="en-GB" sz="20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Jadhao</a:t>
            </a:r>
            <a:r>
              <a:rPr lang="en-GB" sz="2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- 612305031</a:t>
            </a:r>
            <a:endParaRPr lang="en-GB" sz="20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0" indent="457200" rtl="0">
              <a:buNone/>
            </a:pPr>
            <a:r>
              <a:rPr lang="en-GB" sz="2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		</a:t>
            </a:r>
            <a:endParaRPr lang="en-GB" sz="20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indent="457200" rtl="0">
              <a:buNone/>
            </a:pPr>
            <a:r>
              <a:rPr lang="en-GB" sz="2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		          Mentor: </a:t>
            </a: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</a:t>
            </a:r>
            <a:r>
              <a:rPr lang="en-GB" sz="2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Vinodini Bhole</a:t>
            </a:r>
            <a:endParaRPr lang="en-GB" sz="20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0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42989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50A8A-DC7E-3F54-6B4D-7308C5B3E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87EBDC64-457F-8E38-51D9-69EE723B0595}"/>
              </a:ext>
            </a:extLst>
          </p:cNvPr>
          <p:cNvSpPr txBox="1">
            <a:spLocks/>
          </p:cNvSpPr>
          <p:nvPr/>
        </p:nvSpPr>
        <p:spPr>
          <a:xfrm>
            <a:off x="1763418" y="91285"/>
            <a:ext cx="8665164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Block Diagram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6BACC00A-0EF8-DFFD-7DFF-BB0FFF0F57D7}"/>
              </a:ext>
            </a:extLst>
          </p:cNvPr>
          <p:cNvSpPr/>
          <p:nvPr/>
        </p:nvSpPr>
        <p:spPr>
          <a:xfrm>
            <a:off x="8463875" y="925202"/>
            <a:ext cx="3100315" cy="4693757"/>
          </a:xfrm>
          <a:prstGeom prst="roundRect">
            <a:avLst>
              <a:gd name="adj" fmla="val 5467"/>
            </a:avLst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MICROCONTROLLER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221B8868-8607-AB4E-E6A2-39A14BC69A8D}"/>
              </a:ext>
            </a:extLst>
          </p:cNvPr>
          <p:cNvSpPr/>
          <p:nvPr/>
        </p:nvSpPr>
        <p:spPr>
          <a:xfrm>
            <a:off x="4223794" y="2220408"/>
            <a:ext cx="3301255" cy="2093089"/>
          </a:xfrm>
          <a:prstGeom prst="roundRect">
            <a:avLst>
              <a:gd name="adj" fmla="val 13349"/>
            </a:avLst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CELL – BALANCING CIRCUIT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3E564D9E-02EE-FF6E-D489-EB69CA198F41}"/>
              </a:ext>
            </a:extLst>
          </p:cNvPr>
          <p:cNvSpPr/>
          <p:nvPr/>
        </p:nvSpPr>
        <p:spPr>
          <a:xfrm>
            <a:off x="4199132" y="4819939"/>
            <a:ext cx="3291199" cy="90835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EXTERNAL LOAD/CHARGING SOURCE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D5BA9E3B-54F7-DBA6-7F30-9AB478152634}"/>
              </a:ext>
            </a:extLst>
          </p:cNvPr>
          <p:cNvSpPr/>
          <p:nvPr/>
        </p:nvSpPr>
        <p:spPr>
          <a:xfrm>
            <a:off x="764663" y="4750704"/>
            <a:ext cx="2214852" cy="10468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BATTERY PROTECTION CIRCUIT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44EE3B03-E445-22EE-1C4E-AC60B2FFB6C7}"/>
              </a:ext>
            </a:extLst>
          </p:cNvPr>
          <p:cNvSpPr/>
          <p:nvPr/>
        </p:nvSpPr>
        <p:spPr>
          <a:xfrm>
            <a:off x="764663" y="2495438"/>
            <a:ext cx="2214852" cy="1543030"/>
          </a:xfrm>
          <a:prstGeom prst="roundRect">
            <a:avLst>
              <a:gd name="adj" fmla="val 13666"/>
            </a:avLst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BATTERY PACK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D38E5967-98DA-73B3-3E33-911BE156E647}"/>
              </a:ext>
            </a:extLst>
          </p:cNvPr>
          <p:cNvSpPr/>
          <p:nvPr/>
        </p:nvSpPr>
        <p:spPr>
          <a:xfrm>
            <a:off x="764664" y="993315"/>
            <a:ext cx="2214851" cy="10468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VOLTAGE AND CURRENT MEASUREMENT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79D31C05-9023-CFFD-59A8-79029FDB23BD}"/>
              </a:ext>
            </a:extLst>
          </p:cNvPr>
          <p:cNvCxnSpPr>
            <a:cxnSpLocks/>
            <a:stCxn id="265" idx="1"/>
            <a:endCxn id="266" idx="3"/>
          </p:cNvCxnSpPr>
          <p:nvPr/>
        </p:nvCxnSpPr>
        <p:spPr>
          <a:xfrm flipH="1" flipV="1">
            <a:off x="7525049" y="3266953"/>
            <a:ext cx="938826" cy="5128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990FCE8D-03F3-EF61-0A7F-C7EBEFA3ADE6}"/>
              </a:ext>
            </a:extLst>
          </p:cNvPr>
          <p:cNvCxnSpPr>
            <a:cxnSpLocks/>
          </p:cNvCxnSpPr>
          <p:nvPr/>
        </p:nvCxnSpPr>
        <p:spPr>
          <a:xfrm flipH="1">
            <a:off x="2979515" y="3294925"/>
            <a:ext cx="1219617" cy="0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71D6CCC1-E993-8AA0-32C8-D97D2DB12A8C}"/>
              </a:ext>
            </a:extLst>
          </p:cNvPr>
          <p:cNvCxnSpPr>
            <a:cxnSpLocks/>
            <a:stCxn id="269" idx="0"/>
            <a:endCxn id="270" idx="2"/>
          </p:cNvCxnSpPr>
          <p:nvPr/>
        </p:nvCxnSpPr>
        <p:spPr>
          <a:xfrm flipV="1">
            <a:off x="1872089" y="2040139"/>
            <a:ext cx="1" cy="455299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6363DF53-033E-CB72-8705-F9E9FCEC3B30}"/>
              </a:ext>
            </a:extLst>
          </p:cNvPr>
          <p:cNvCxnSpPr>
            <a:cxnSpLocks/>
            <a:stCxn id="268" idx="0"/>
            <a:endCxn id="269" idx="2"/>
          </p:cNvCxnSpPr>
          <p:nvPr/>
        </p:nvCxnSpPr>
        <p:spPr>
          <a:xfrm flipV="1">
            <a:off x="1872089" y="4038468"/>
            <a:ext cx="0" cy="712236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F95BBA1B-EF36-386D-23CB-A75ADA9898BB}"/>
              </a:ext>
            </a:extLst>
          </p:cNvPr>
          <p:cNvCxnSpPr>
            <a:cxnSpLocks/>
            <a:stCxn id="268" idx="3"/>
            <a:endCxn id="267" idx="1"/>
          </p:cNvCxnSpPr>
          <p:nvPr/>
        </p:nvCxnSpPr>
        <p:spPr>
          <a:xfrm>
            <a:off x="2979515" y="5274116"/>
            <a:ext cx="1219617" cy="0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13EF8B-B1E4-EA87-B7F0-EE0D4A531D88}"/>
              </a:ext>
            </a:extLst>
          </p:cNvPr>
          <p:cNvSpPr/>
          <p:nvPr/>
        </p:nvSpPr>
        <p:spPr>
          <a:xfrm>
            <a:off x="3465835" y="993316"/>
            <a:ext cx="1816634" cy="10509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Coulomb Counting Circuit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10EDDD-C788-EBEB-E5B6-FBA715D3C9FD}"/>
              </a:ext>
            </a:extLst>
          </p:cNvPr>
          <p:cNvCxnSpPr>
            <a:cxnSpLocks/>
            <a:stCxn id="270" idx="3"/>
            <a:endCxn id="2" idx="1"/>
          </p:cNvCxnSpPr>
          <p:nvPr/>
        </p:nvCxnSpPr>
        <p:spPr>
          <a:xfrm>
            <a:off x="2979515" y="1516727"/>
            <a:ext cx="486320" cy="2082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E731D1-8B3C-96CB-DCEC-9A8B6EA1C1DB}"/>
              </a:ext>
            </a:extLst>
          </p:cNvPr>
          <p:cNvSpPr/>
          <p:nvPr/>
        </p:nvSpPr>
        <p:spPr>
          <a:xfrm>
            <a:off x="5907525" y="993315"/>
            <a:ext cx="1816634" cy="10509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 and Multiplexer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C19745-97B2-9B84-BCDC-1B79F5E73A5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282469" y="1516727"/>
            <a:ext cx="625056" cy="2081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C37E36-B27F-51A7-1A46-F8D6D611EB9C}"/>
              </a:ext>
            </a:extLst>
          </p:cNvPr>
          <p:cNvCxnSpPr>
            <a:cxnSpLocks/>
          </p:cNvCxnSpPr>
          <p:nvPr/>
        </p:nvCxnSpPr>
        <p:spPr>
          <a:xfrm>
            <a:off x="7724159" y="1516727"/>
            <a:ext cx="739716" cy="0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228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62D7C84-8483-F43E-AE5E-73BEAB89D6B8}"/>
              </a:ext>
            </a:extLst>
          </p:cNvPr>
          <p:cNvSpPr txBox="1">
            <a:spLocks/>
          </p:cNvSpPr>
          <p:nvPr/>
        </p:nvSpPr>
        <p:spPr>
          <a:xfrm>
            <a:off x="838199" y="384175"/>
            <a:ext cx="1051560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 Circuit</a:t>
            </a:r>
            <a:b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D36C4-3CAE-074B-2CAC-C20DFFFE7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86" y="1572728"/>
            <a:ext cx="9525825" cy="31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92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BD0C01-5B21-4103-A627-4E3DC6275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92" y="209271"/>
            <a:ext cx="11510128" cy="6439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459B95A-966C-0995-0807-7E94E6BC0603}"/>
              </a:ext>
            </a:extLst>
          </p:cNvPr>
          <p:cNvSpPr/>
          <p:nvPr/>
        </p:nvSpPr>
        <p:spPr>
          <a:xfrm>
            <a:off x="1168924" y="862013"/>
            <a:ext cx="1481927" cy="2352675"/>
          </a:xfrm>
          <a:prstGeom prst="rect">
            <a:avLst/>
          </a:prstGeom>
          <a:solidFill>
            <a:srgbClr val="00B050">
              <a:alpha val="1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4D57-E690-5837-D7D4-426820B63A95}"/>
              </a:ext>
            </a:extLst>
          </p:cNvPr>
          <p:cNvSpPr/>
          <p:nvPr/>
        </p:nvSpPr>
        <p:spPr>
          <a:xfrm>
            <a:off x="472125" y="4303674"/>
            <a:ext cx="1450943" cy="2240001"/>
          </a:xfrm>
          <a:prstGeom prst="rect">
            <a:avLst/>
          </a:prstGeom>
          <a:solidFill>
            <a:srgbClr val="E85280">
              <a:alpha val="1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F76AA1-A75F-BB9D-E4B0-0460F3440F03}"/>
              </a:ext>
            </a:extLst>
          </p:cNvPr>
          <p:cNvSpPr/>
          <p:nvPr/>
        </p:nvSpPr>
        <p:spPr>
          <a:xfrm>
            <a:off x="5536873" y="590550"/>
            <a:ext cx="1257300" cy="3867151"/>
          </a:xfrm>
          <a:prstGeom prst="rect">
            <a:avLst/>
          </a:prstGeom>
          <a:solidFill>
            <a:srgbClr val="FFFF00">
              <a:alpha val="1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6B48D5-B1FA-C2D2-7ECA-CB3B407C9B7F}"/>
              </a:ext>
            </a:extLst>
          </p:cNvPr>
          <p:cNvSpPr/>
          <p:nvPr/>
        </p:nvSpPr>
        <p:spPr>
          <a:xfrm>
            <a:off x="4419600" y="4303673"/>
            <a:ext cx="1032530" cy="716003"/>
          </a:xfrm>
          <a:prstGeom prst="rect">
            <a:avLst/>
          </a:prstGeom>
          <a:solidFill>
            <a:srgbClr val="00B0F0">
              <a:alpha val="1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0D6293-B10A-C2E8-E2EA-F792DAE3B594}"/>
              </a:ext>
            </a:extLst>
          </p:cNvPr>
          <p:cNvSpPr/>
          <p:nvPr/>
        </p:nvSpPr>
        <p:spPr>
          <a:xfrm>
            <a:off x="10338455" y="2038351"/>
            <a:ext cx="1409699" cy="2114549"/>
          </a:xfrm>
          <a:prstGeom prst="rect">
            <a:avLst/>
          </a:prstGeom>
          <a:solidFill>
            <a:srgbClr val="00B050">
              <a:alpha val="1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4236C-9306-5820-6BAE-C7079721C637}"/>
              </a:ext>
            </a:extLst>
          </p:cNvPr>
          <p:cNvSpPr txBox="1"/>
          <p:nvPr/>
        </p:nvSpPr>
        <p:spPr>
          <a:xfrm>
            <a:off x="9650584" y="1513998"/>
            <a:ext cx="8057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Load Switch + Load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E0156B-A9F4-CC29-A30F-F2BEB09654EB}"/>
              </a:ext>
            </a:extLst>
          </p:cNvPr>
          <p:cNvCxnSpPr>
            <a:cxnSpLocks/>
          </p:cNvCxnSpPr>
          <p:nvPr/>
        </p:nvCxnSpPr>
        <p:spPr>
          <a:xfrm flipH="1" flipV="1">
            <a:off x="10053482" y="2192499"/>
            <a:ext cx="284973" cy="3316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98F95B-BECF-C979-A36F-0DC5D36F277F}"/>
              </a:ext>
            </a:extLst>
          </p:cNvPr>
          <p:cNvCxnSpPr>
            <a:cxnSpLocks/>
          </p:cNvCxnSpPr>
          <p:nvPr/>
        </p:nvCxnSpPr>
        <p:spPr>
          <a:xfrm flipH="1" flipV="1">
            <a:off x="1395167" y="590550"/>
            <a:ext cx="349291" cy="2714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D31047-9FC2-B56F-981B-1503074B3B88}"/>
              </a:ext>
            </a:extLst>
          </p:cNvPr>
          <p:cNvCxnSpPr>
            <a:cxnSpLocks/>
          </p:cNvCxnSpPr>
          <p:nvPr/>
        </p:nvCxnSpPr>
        <p:spPr>
          <a:xfrm flipV="1">
            <a:off x="793636" y="4081806"/>
            <a:ext cx="366655" cy="2218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71F81E8-E98C-5BC8-70EE-64BDE74DA199}"/>
              </a:ext>
            </a:extLst>
          </p:cNvPr>
          <p:cNvSpPr txBox="1"/>
          <p:nvPr/>
        </p:nvSpPr>
        <p:spPr>
          <a:xfrm>
            <a:off x="1022433" y="3571370"/>
            <a:ext cx="1774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Sets undervoltage threshold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062945-ABF0-EE68-5312-AE8A15B0D567}"/>
              </a:ext>
            </a:extLst>
          </p:cNvPr>
          <p:cNvSpPr txBox="1"/>
          <p:nvPr/>
        </p:nvSpPr>
        <p:spPr>
          <a:xfrm>
            <a:off x="348792" y="233739"/>
            <a:ext cx="1774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Sets overvoltage threshold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74EA106-22E6-6A0C-14C0-67B2BBF76A81}"/>
              </a:ext>
            </a:extLst>
          </p:cNvPr>
          <p:cNvCxnSpPr>
            <a:cxnSpLocks/>
          </p:cNvCxnSpPr>
          <p:nvPr/>
        </p:nvCxnSpPr>
        <p:spPr>
          <a:xfrm>
            <a:off x="5449462" y="4896010"/>
            <a:ext cx="372493" cy="1482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B22762-AB78-46F6-5ED8-5254B096E55B}"/>
              </a:ext>
            </a:extLst>
          </p:cNvPr>
          <p:cNvSpPr txBox="1"/>
          <p:nvPr/>
        </p:nvSpPr>
        <p:spPr>
          <a:xfrm>
            <a:off x="5208546" y="5044229"/>
            <a:ext cx="1774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MOSFET Gate Driver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E32BDB-E4E2-E55D-0ED8-B63E1AAECD7B}"/>
              </a:ext>
            </a:extLst>
          </p:cNvPr>
          <p:cNvSpPr txBox="1"/>
          <p:nvPr/>
        </p:nvSpPr>
        <p:spPr>
          <a:xfrm>
            <a:off x="3761967" y="2718635"/>
            <a:ext cx="1774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Precision Voltage Comparator</a:t>
            </a:r>
            <a:endParaRPr lang="en-US" sz="14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B1CEEF-9AFE-9532-2D8D-7657668B0155}"/>
              </a:ext>
            </a:extLst>
          </p:cNvPr>
          <p:cNvCxnSpPr>
            <a:cxnSpLocks/>
          </p:cNvCxnSpPr>
          <p:nvPr/>
        </p:nvCxnSpPr>
        <p:spPr>
          <a:xfrm>
            <a:off x="3843234" y="2524125"/>
            <a:ext cx="368683" cy="1945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755CCD9-EAF8-F234-E1B3-9532FBACA05D}"/>
              </a:ext>
            </a:extLst>
          </p:cNvPr>
          <p:cNvSpPr/>
          <p:nvPr/>
        </p:nvSpPr>
        <p:spPr>
          <a:xfrm>
            <a:off x="2960851" y="1513998"/>
            <a:ext cx="1166323" cy="1010127"/>
          </a:xfrm>
          <a:prstGeom prst="rect">
            <a:avLst/>
          </a:prstGeom>
          <a:solidFill>
            <a:srgbClr val="7030A0">
              <a:alpha val="1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D2DC8B0-2D13-BF89-8EE6-F90518F30592}"/>
              </a:ext>
            </a:extLst>
          </p:cNvPr>
          <p:cNvCxnSpPr>
            <a:cxnSpLocks/>
          </p:cNvCxnSpPr>
          <p:nvPr/>
        </p:nvCxnSpPr>
        <p:spPr>
          <a:xfrm flipV="1">
            <a:off x="6811218" y="1914901"/>
            <a:ext cx="419141" cy="2468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5FA0E2A-B007-5FF8-C285-BC83279E2231}"/>
              </a:ext>
            </a:extLst>
          </p:cNvPr>
          <p:cNvSpPr txBox="1"/>
          <p:nvPr/>
        </p:nvSpPr>
        <p:spPr>
          <a:xfrm>
            <a:off x="7230359" y="1280397"/>
            <a:ext cx="17749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WIRED OR</a:t>
            </a:r>
            <a:br>
              <a:rPr lang="en-US" sz="1400" b="1" dirty="0"/>
            </a:br>
            <a:r>
              <a:rPr lang="en-US" sz="1400" b="1" dirty="0"/>
              <a:t>CONFIGURATION OF</a:t>
            </a:r>
            <a:br>
              <a:rPr lang="en-US" sz="1400" b="1" dirty="0"/>
            </a:br>
            <a:r>
              <a:rPr lang="en-US" sz="1400" b="1" dirty="0"/>
              <a:t>DIODE </a:t>
            </a:r>
          </a:p>
        </p:txBody>
      </p:sp>
    </p:spTree>
    <p:extLst>
      <p:ext uri="{BB962C8B-B14F-4D97-AF65-F5344CB8AC3E}">
        <p14:creationId xmlns:p14="http://schemas.microsoft.com/office/powerpoint/2010/main" val="1098457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BB73-C0EC-B8FD-9015-6924983FC60D}"/>
              </a:ext>
            </a:extLst>
          </p:cNvPr>
          <p:cNvSpPr txBox="1">
            <a:spLocks/>
          </p:cNvSpPr>
          <p:nvPr/>
        </p:nvSpPr>
        <p:spPr>
          <a:xfrm>
            <a:off x="838199" y="384175"/>
            <a:ext cx="1051560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Calculations</a:t>
            </a:r>
            <a:b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C2E563-7D76-8B53-DA38-0D934B694F6B}"/>
                  </a:ext>
                </a:extLst>
              </p:cNvPr>
              <p:cNvSpPr txBox="1"/>
              <p:nvPr/>
            </p:nvSpPr>
            <p:spPr>
              <a:xfrm>
                <a:off x="827314" y="1200150"/>
                <a:ext cx="3091544" cy="3897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Overvoltage Threshold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TL431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reference: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495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Voltage divider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𝐼𝑁</m:t>
                          </m:r>
                        </m:sub>
                      </m:sSub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𝐼𝑁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ar-A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495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Chosen values: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Overvoltage threshold ≈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4.2 V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C2E563-7D76-8B53-DA38-0D934B694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14" y="1200150"/>
                <a:ext cx="3091544" cy="3897734"/>
              </a:xfrm>
              <a:prstGeom prst="rect">
                <a:avLst/>
              </a:prstGeom>
              <a:blipFill>
                <a:blip r:embed="rId2"/>
                <a:stretch>
                  <a:fillRect l="-1775" t="-9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D081F8-FE7B-5C3A-7205-5EA4BAB399E4}"/>
                  </a:ext>
                </a:extLst>
              </p:cNvPr>
              <p:cNvSpPr txBox="1"/>
              <p:nvPr/>
            </p:nvSpPr>
            <p:spPr>
              <a:xfrm>
                <a:off x="4267201" y="1200150"/>
                <a:ext cx="3156857" cy="2318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Undervoltage Threshold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𝐼𝑁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495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Chosen values: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l-G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Undervoltage threshold ≈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3.0 V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D081F8-FE7B-5C3A-7205-5EA4BAB39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1" y="1200150"/>
                <a:ext cx="3156857" cy="2318199"/>
              </a:xfrm>
              <a:prstGeom prst="rect">
                <a:avLst/>
              </a:prstGeom>
              <a:blipFill>
                <a:blip r:embed="rId3"/>
                <a:stretch>
                  <a:fillRect l="-1544" t="-15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5C1FB6-8506-E30F-7122-515F43F8E331}"/>
                  </a:ext>
                </a:extLst>
              </p:cNvPr>
              <p:cNvSpPr txBox="1"/>
              <p:nvPr/>
            </p:nvSpPr>
            <p:spPr>
              <a:xfrm>
                <a:off x="4267201" y="3493920"/>
                <a:ext cx="4691743" cy="2393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Transistor Drive Calculation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BC547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Collector current: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33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Required base current: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033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Actual base current: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55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Transistor saturates</a:t>
                </a:r>
              </a:p>
              <a:p>
                <a:pPr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5C1FB6-8506-E30F-7122-515F43F8E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1" y="3493920"/>
                <a:ext cx="4691743" cy="2393732"/>
              </a:xfrm>
              <a:prstGeom prst="rect">
                <a:avLst/>
              </a:prstGeom>
              <a:blipFill>
                <a:blip r:embed="rId4"/>
                <a:stretch>
                  <a:fillRect l="-1039" t="-12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138BA9-E225-0687-6F50-ACEF9658818A}"/>
                  </a:ext>
                </a:extLst>
              </p:cNvPr>
              <p:cNvSpPr txBox="1"/>
              <p:nvPr/>
            </p:nvSpPr>
            <p:spPr>
              <a:xfrm>
                <a:off x="8757556" y="1200150"/>
                <a:ext cx="3091543" cy="33530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Load Current Calculation</a:t>
                </a: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LED resistor: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220</m:t>
                      </m:r>
                      <m:r>
                        <m:rPr>
                          <m:sty m:val="p"/>
                        </m:rPr>
                        <a:rPr lang="el-GR" i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l-G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LED forward voltage: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𝐿𝐸𝐷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through load: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𝑠𝑢𝑝𝑝𝑙𝑦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𝐿𝐸𝐷</m:t>
                              </m:r>
                            </m:sub>
                          </m:sSub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220</m:t>
                          </m:r>
                        </m:den>
                      </m:f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ar-AE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 current ≈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mA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138BA9-E225-0687-6F50-ACEF96588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556" y="1200150"/>
                <a:ext cx="3091543" cy="3353034"/>
              </a:xfrm>
              <a:prstGeom prst="rect">
                <a:avLst/>
              </a:prstGeom>
              <a:blipFill>
                <a:blip r:embed="rId5"/>
                <a:stretch>
                  <a:fillRect l="-1775" t="-1091"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869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6D9548D-90FE-769F-C4B1-A388ADB96A7B}"/>
              </a:ext>
            </a:extLst>
          </p:cNvPr>
          <p:cNvSpPr txBox="1">
            <a:spLocks/>
          </p:cNvSpPr>
          <p:nvPr/>
        </p:nvSpPr>
        <p:spPr>
          <a:xfrm>
            <a:off x="838200" y="384175"/>
            <a:ext cx="1051560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Breadboard Testing</a:t>
            </a:r>
            <a:b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4D573-A364-73CD-A747-788B02178341}"/>
              </a:ext>
            </a:extLst>
          </p:cNvPr>
          <p:cNvSpPr txBox="1"/>
          <p:nvPr/>
        </p:nvSpPr>
        <p:spPr>
          <a:xfrm>
            <a:off x="1711749" y="1200150"/>
            <a:ext cx="54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Power Supply 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17C00-5F14-7C72-9A33-55DE286CC31F}"/>
              </a:ext>
            </a:extLst>
          </p:cNvPr>
          <p:cNvSpPr txBox="1"/>
          <p:nvPr/>
        </p:nvSpPr>
        <p:spPr>
          <a:xfrm>
            <a:off x="6534741" y="1875934"/>
            <a:ext cx="42306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is a Power Supply Board from NSK31</a:t>
            </a:r>
          </a:p>
          <a:p>
            <a:endParaRPr lang="en-US" dirty="0"/>
          </a:p>
          <a:p>
            <a:r>
              <a:rPr lang="en-US" dirty="0"/>
              <a:t>Output headers labeled: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1.8V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3.3V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5V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12V</a:t>
            </a:r>
            <a:endParaRPr lang="en-US" dirty="0"/>
          </a:p>
          <a:p>
            <a:endParaRPr lang="en-IN" dirty="0"/>
          </a:p>
          <a:p>
            <a:r>
              <a:rPr lang="en-IN" dirty="0"/>
              <a:t>It is powered by an adapter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F6E226-2725-C6D8-6669-36555D23C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306" y="1875934"/>
            <a:ext cx="4062952" cy="345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79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28B84C-B617-7109-AC3F-98F7B967436C}"/>
              </a:ext>
            </a:extLst>
          </p:cNvPr>
          <p:cNvSpPr txBox="1"/>
          <p:nvPr/>
        </p:nvSpPr>
        <p:spPr>
          <a:xfrm>
            <a:off x="627667" y="389445"/>
            <a:ext cx="54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Undervoltage Detection Circuit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A4F99-8370-1AE9-EB58-A7905D02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359" y="1291472"/>
            <a:ext cx="8733277" cy="31602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AF8BB-0BEA-09C4-C55A-6F20DD84A3B5}"/>
              </a:ext>
            </a:extLst>
          </p:cNvPr>
          <p:cNvSpPr txBox="1"/>
          <p:nvPr/>
        </p:nvSpPr>
        <p:spPr>
          <a:xfrm>
            <a:off x="3361832" y="4612535"/>
            <a:ext cx="5468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Normal Operating Condition</a:t>
            </a:r>
            <a:br>
              <a:rPr lang="en-IN" sz="1600" dirty="0"/>
            </a:br>
            <a:r>
              <a:rPr lang="en-IN" sz="1600" dirty="0" err="1"/>
              <a:t>Vbat</a:t>
            </a:r>
            <a:r>
              <a:rPr lang="en-IN" sz="1600" dirty="0"/>
              <a:t>=3.3V</a:t>
            </a:r>
          </a:p>
        </p:txBody>
      </p:sp>
    </p:spTree>
    <p:extLst>
      <p:ext uri="{BB962C8B-B14F-4D97-AF65-F5344CB8AC3E}">
        <p14:creationId xmlns:p14="http://schemas.microsoft.com/office/powerpoint/2010/main" val="48030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6FC0D9-CFCC-126A-D154-90B29C5008B3}"/>
              </a:ext>
            </a:extLst>
          </p:cNvPr>
          <p:cNvSpPr txBox="1"/>
          <p:nvPr/>
        </p:nvSpPr>
        <p:spPr>
          <a:xfrm>
            <a:off x="627667" y="389445"/>
            <a:ext cx="54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Undervoltage Detection Circuit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72F49-E6DD-E959-ADD1-EF6735F49204}"/>
              </a:ext>
            </a:extLst>
          </p:cNvPr>
          <p:cNvSpPr txBox="1"/>
          <p:nvPr/>
        </p:nvSpPr>
        <p:spPr>
          <a:xfrm>
            <a:off x="3361832" y="4612535"/>
            <a:ext cx="5468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Undervoltage Condition</a:t>
            </a:r>
            <a:br>
              <a:rPr lang="en-IN" sz="1600" dirty="0"/>
            </a:br>
            <a:r>
              <a:rPr lang="en-IN" sz="1600" dirty="0" err="1"/>
              <a:t>Vbat</a:t>
            </a:r>
            <a:r>
              <a:rPr lang="en-IN" sz="1600" dirty="0"/>
              <a:t>=1.8V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F308A-D227-83D4-B6F7-CE706AC01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186" y="1208310"/>
            <a:ext cx="9141624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0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7C5BA5-EEB5-42D5-DF36-6594367C3482}"/>
              </a:ext>
            </a:extLst>
          </p:cNvPr>
          <p:cNvGraphicFramePr>
            <a:graphicFrameLocks noGrp="1"/>
          </p:cNvGraphicFramePr>
          <p:nvPr/>
        </p:nvGraphicFramePr>
        <p:xfrm>
          <a:off x="3047999" y="2176132"/>
          <a:ext cx="609600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42416">
                  <a:extLst>
                    <a:ext uri="{9D8B030D-6E8A-4147-A177-3AD203B41FA5}">
                      <a16:colId xmlns:a16="http://schemas.microsoft.com/office/drawing/2014/main" val="1190261688"/>
                    </a:ext>
                  </a:extLst>
                </a:gridCol>
                <a:gridCol w="2221584">
                  <a:extLst>
                    <a:ext uri="{9D8B030D-6E8A-4147-A177-3AD203B41FA5}">
                      <a16:colId xmlns:a16="http://schemas.microsoft.com/office/drawing/2014/main" val="27865626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25735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Voltage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Operating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LED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52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1.8V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Undervoltage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26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3.3V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83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Overvoltage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82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12V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Overvoltage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83595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D974A04-90EE-AB6E-2D0F-179B5DDA0AD2}"/>
              </a:ext>
            </a:extLst>
          </p:cNvPr>
          <p:cNvSpPr txBox="1">
            <a:spLocks/>
          </p:cNvSpPr>
          <p:nvPr/>
        </p:nvSpPr>
        <p:spPr>
          <a:xfrm>
            <a:off x="838199" y="384175"/>
            <a:ext cx="1051560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CAE34C-75C6-6F5B-01B5-D7B0B4A21110}"/>
              </a:ext>
            </a:extLst>
          </p:cNvPr>
          <p:cNvSpPr txBox="1"/>
          <p:nvPr/>
        </p:nvSpPr>
        <p:spPr>
          <a:xfrm>
            <a:off x="838199" y="1313271"/>
            <a:ext cx="54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Undervoltage Circuit:</a:t>
            </a:r>
          </a:p>
        </p:txBody>
      </p:sp>
    </p:spTree>
    <p:extLst>
      <p:ext uri="{BB962C8B-B14F-4D97-AF65-F5344CB8AC3E}">
        <p14:creationId xmlns:p14="http://schemas.microsoft.com/office/powerpoint/2010/main" val="37332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AD5AD1-281E-5107-59D1-158B02A46F7F}"/>
              </a:ext>
            </a:extLst>
          </p:cNvPr>
          <p:cNvSpPr txBox="1"/>
          <p:nvPr/>
        </p:nvSpPr>
        <p:spPr>
          <a:xfrm>
            <a:off x="627667" y="389445"/>
            <a:ext cx="54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Overvoltage Detection Circuit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FAABB-D8FD-D160-0E9C-63636D17D54F}"/>
              </a:ext>
            </a:extLst>
          </p:cNvPr>
          <p:cNvSpPr txBox="1"/>
          <p:nvPr/>
        </p:nvSpPr>
        <p:spPr>
          <a:xfrm>
            <a:off x="3361832" y="4621962"/>
            <a:ext cx="5468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Normal Operating Condition</a:t>
            </a:r>
            <a:br>
              <a:rPr lang="en-IN" sz="1600" dirty="0"/>
            </a:br>
            <a:r>
              <a:rPr lang="en-IN" sz="1600" dirty="0" err="1"/>
              <a:t>Vbat</a:t>
            </a:r>
            <a:r>
              <a:rPr lang="en-IN" sz="1600" dirty="0"/>
              <a:t>=3.3V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BED1DA-593E-4D60-E24C-D33CE6332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42" y="1451728"/>
            <a:ext cx="9257470" cy="307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77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5D82A-4504-FFC5-B866-067E19E627F6}"/>
              </a:ext>
            </a:extLst>
          </p:cNvPr>
          <p:cNvSpPr txBox="1"/>
          <p:nvPr/>
        </p:nvSpPr>
        <p:spPr>
          <a:xfrm>
            <a:off x="627667" y="389445"/>
            <a:ext cx="54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Overvoltage Detection Circuit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E16B40-666D-7FDA-3DE5-C5E9FE676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93" y="1159497"/>
            <a:ext cx="9587059" cy="33465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44455E-9DE7-9F89-07AB-80056E7D9581}"/>
              </a:ext>
            </a:extLst>
          </p:cNvPr>
          <p:cNvSpPr txBox="1"/>
          <p:nvPr/>
        </p:nvSpPr>
        <p:spPr>
          <a:xfrm>
            <a:off x="3361832" y="4621962"/>
            <a:ext cx="5468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Overvoltage Operating Condition</a:t>
            </a:r>
            <a:br>
              <a:rPr lang="en-IN" sz="1600" dirty="0"/>
            </a:br>
            <a:r>
              <a:rPr lang="en-IN" sz="1600" dirty="0" err="1"/>
              <a:t>Vbat</a:t>
            </a:r>
            <a:r>
              <a:rPr lang="en-IN" sz="1600" dirty="0"/>
              <a:t>=12V</a:t>
            </a:r>
          </a:p>
        </p:txBody>
      </p:sp>
    </p:spTree>
    <p:extLst>
      <p:ext uri="{BB962C8B-B14F-4D97-AF65-F5344CB8AC3E}">
        <p14:creationId xmlns:p14="http://schemas.microsoft.com/office/powerpoint/2010/main" val="2595428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C3FAEE-399A-F882-6BB1-0AE4D096C80C}"/>
              </a:ext>
            </a:extLst>
          </p:cNvPr>
          <p:cNvGraphicFramePr>
            <a:graphicFrameLocks noGrp="1"/>
          </p:cNvGraphicFramePr>
          <p:nvPr/>
        </p:nvGraphicFramePr>
        <p:xfrm>
          <a:off x="3047999" y="2176132"/>
          <a:ext cx="609600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42416">
                  <a:extLst>
                    <a:ext uri="{9D8B030D-6E8A-4147-A177-3AD203B41FA5}">
                      <a16:colId xmlns:a16="http://schemas.microsoft.com/office/drawing/2014/main" val="1190261688"/>
                    </a:ext>
                  </a:extLst>
                </a:gridCol>
                <a:gridCol w="2221584">
                  <a:extLst>
                    <a:ext uri="{9D8B030D-6E8A-4147-A177-3AD203B41FA5}">
                      <a16:colId xmlns:a16="http://schemas.microsoft.com/office/drawing/2014/main" val="27865626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25735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Voltage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Operating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LED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52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1.8V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Undervoltage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26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3.3V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83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Overvoltage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82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12V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Overvoltage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83595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0CB83A28-E6DE-E047-A13E-8CCCC2545CB1}"/>
              </a:ext>
            </a:extLst>
          </p:cNvPr>
          <p:cNvSpPr txBox="1">
            <a:spLocks/>
          </p:cNvSpPr>
          <p:nvPr/>
        </p:nvSpPr>
        <p:spPr>
          <a:xfrm>
            <a:off x="838199" y="384175"/>
            <a:ext cx="1051560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F93177-C250-7A88-B4A3-49FBA7071011}"/>
              </a:ext>
            </a:extLst>
          </p:cNvPr>
          <p:cNvSpPr txBox="1"/>
          <p:nvPr/>
        </p:nvSpPr>
        <p:spPr>
          <a:xfrm>
            <a:off x="838199" y="1313271"/>
            <a:ext cx="54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Overvoltage Circuit:</a:t>
            </a:r>
          </a:p>
        </p:txBody>
      </p:sp>
    </p:spTree>
    <p:extLst>
      <p:ext uri="{BB962C8B-B14F-4D97-AF65-F5344CB8AC3E}">
        <p14:creationId xmlns:p14="http://schemas.microsoft.com/office/powerpoint/2010/main" val="1919308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14907-AB97-E6E5-3EFC-6B9D873D07F8}"/>
              </a:ext>
            </a:extLst>
          </p:cNvPr>
          <p:cNvSpPr txBox="1"/>
          <p:nvPr/>
        </p:nvSpPr>
        <p:spPr>
          <a:xfrm>
            <a:off x="627667" y="389445"/>
            <a:ext cx="54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Combined Circuit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7E020-77F1-4701-336D-612BFDFD4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933" y="1154419"/>
            <a:ext cx="8022133" cy="35601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CBBCEC-3EE8-081C-481F-A57EBFFE8D8E}"/>
              </a:ext>
            </a:extLst>
          </p:cNvPr>
          <p:cNvSpPr txBox="1"/>
          <p:nvPr/>
        </p:nvSpPr>
        <p:spPr>
          <a:xfrm>
            <a:off x="3361834" y="4819925"/>
            <a:ext cx="5468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Normal Operating Condition</a:t>
            </a:r>
            <a:br>
              <a:rPr lang="en-IN" sz="1600" dirty="0"/>
            </a:br>
            <a:r>
              <a:rPr lang="en-IN" sz="1600" dirty="0" err="1"/>
              <a:t>Vbat</a:t>
            </a:r>
            <a:r>
              <a:rPr lang="en-IN" sz="1600" dirty="0"/>
              <a:t>=3.3V</a:t>
            </a:r>
          </a:p>
        </p:txBody>
      </p:sp>
    </p:spTree>
    <p:extLst>
      <p:ext uri="{BB962C8B-B14F-4D97-AF65-F5344CB8AC3E}">
        <p14:creationId xmlns:p14="http://schemas.microsoft.com/office/powerpoint/2010/main" val="367031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7201CB-25DB-D9BF-AA78-887E152E58E1}"/>
              </a:ext>
            </a:extLst>
          </p:cNvPr>
          <p:cNvSpPr txBox="1"/>
          <p:nvPr/>
        </p:nvSpPr>
        <p:spPr>
          <a:xfrm>
            <a:off x="627667" y="389445"/>
            <a:ext cx="54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Combined Circuit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9E4CD-E90F-9A92-D485-72759BEE7D80}"/>
              </a:ext>
            </a:extLst>
          </p:cNvPr>
          <p:cNvSpPr txBox="1"/>
          <p:nvPr/>
        </p:nvSpPr>
        <p:spPr>
          <a:xfrm>
            <a:off x="3361832" y="4621962"/>
            <a:ext cx="5468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Undervoltage Operating Condition</a:t>
            </a:r>
            <a:br>
              <a:rPr lang="en-IN" sz="1600" dirty="0"/>
            </a:br>
            <a:r>
              <a:rPr lang="en-IN" sz="1600" dirty="0" err="1"/>
              <a:t>Vbat</a:t>
            </a:r>
            <a:r>
              <a:rPr lang="en-IN" sz="1600" dirty="0"/>
              <a:t>=1.8V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B0E0A-A941-EFA1-D4C2-EE7DBC23A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774" y="1130780"/>
            <a:ext cx="7670447" cy="340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01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BF3567-E716-4879-2550-A964FFF91E52}"/>
              </a:ext>
            </a:extLst>
          </p:cNvPr>
          <p:cNvSpPr txBox="1"/>
          <p:nvPr/>
        </p:nvSpPr>
        <p:spPr>
          <a:xfrm>
            <a:off x="627667" y="389445"/>
            <a:ext cx="54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Combined Circuit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26976-0400-DA52-9293-64E2D0A6C319}"/>
              </a:ext>
            </a:extLst>
          </p:cNvPr>
          <p:cNvSpPr txBox="1"/>
          <p:nvPr/>
        </p:nvSpPr>
        <p:spPr>
          <a:xfrm>
            <a:off x="3361833" y="4698484"/>
            <a:ext cx="5468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Overvoltage Operating Condition</a:t>
            </a:r>
            <a:br>
              <a:rPr lang="en-IN" sz="1600" dirty="0"/>
            </a:br>
            <a:r>
              <a:rPr lang="en-IN" sz="1600" dirty="0" err="1"/>
              <a:t>Vbat</a:t>
            </a:r>
            <a:r>
              <a:rPr lang="en-IN" sz="1600" dirty="0"/>
              <a:t>=12V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758DE2-3BAD-D162-AED2-6F428CB6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634" y="1131215"/>
            <a:ext cx="7940728" cy="341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05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BBE3D3-3948-8D50-5BCC-14F045F3564B}"/>
              </a:ext>
            </a:extLst>
          </p:cNvPr>
          <p:cNvGraphicFramePr>
            <a:graphicFrameLocks noGrp="1"/>
          </p:cNvGraphicFramePr>
          <p:nvPr/>
        </p:nvGraphicFramePr>
        <p:xfrm>
          <a:off x="2751054" y="2223266"/>
          <a:ext cx="6689890" cy="21234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3146">
                  <a:extLst>
                    <a:ext uri="{9D8B030D-6E8A-4147-A177-3AD203B41FA5}">
                      <a16:colId xmlns:a16="http://schemas.microsoft.com/office/drawing/2014/main" val="1190261688"/>
                    </a:ext>
                  </a:extLst>
                </a:gridCol>
                <a:gridCol w="1462810">
                  <a:extLst>
                    <a:ext uri="{9D8B030D-6E8A-4147-A177-3AD203B41FA5}">
                      <a16:colId xmlns:a16="http://schemas.microsoft.com/office/drawing/2014/main" val="2786562607"/>
                    </a:ext>
                  </a:extLst>
                </a:gridCol>
                <a:gridCol w="1337978">
                  <a:extLst>
                    <a:ext uri="{9D8B030D-6E8A-4147-A177-3AD203B41FA5}">
                      <a16:colId xmlns:a16="http://schemas.microsoft.com/office/drawing/2014/main" val="3225735243"/>
                    </a:ext>
                  </a:extLst>
                </a:gridCol>
                <a:gridCol w="1337978">
                  <a:extLst>
                    <a:ext uri="{9D8B030D-6E8A-4147-A177-3AD203B41FA5}">
                      <a16:colId xmlns:a16="http://schemas.microsoft.com/office/drawing/2014/main" val="1572507085"/>
                    </a:ext>
                  </a:extLst>
                </a:gridCol>
                <a:gridCol w="1337978">
                  <a:extLst>
                    <a:ext uri="{9D8B030D-6E8A-4147-A177-3AD203B41FA5}">
                      <a16:colId xmlns:a16="http://schemas.microsoft.com/office/drawing/2014/main" val="3652420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Voltage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Operating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LED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LED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LED3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52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1.8V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Undervoltage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26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3.3V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83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Overvoltage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82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12V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Overvoltage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83595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1BC4DC86-CE0E-1D9F-779F-C309D5DCA2C0}"/>
              </a:ext>
            </a:extLst>
          </p:cNvPr>
          <p:cNvSpPr txBox="1">
            <a:spLocks/>
          </p:cNvSpPr>
          <p:nvPr/>
        </p:nvSpPr>
        <p:spPr>
          <a:xfrm>
            <a:off x="838199" y="384175"/>
            <a:ext cx="1051560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FF6652-C502-B907-4ECE-A103BE92C354}"/>
              </a:ext>
            </a:extLst>
          </p:cNvPr>
          <p:cNvSpPr txBox="1"/>
          <p:nvPr/>
        </p:nvSpPr>
        <p:spPr>
          <a:xfrm>
            <a:off x="838199" y="1313271"/>
            <a:ext cx="54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Combined Circuit:</a:t>
            </a:r>
          </a:p>
        </p:txBody>
      </p:sp>
    </p:spTree>
    <p:extLst>
      <p:ext uri="{BB962C8B-B14F-4D97-AF65-F5344CB8AC3E}">
        <p14:creationId xmlns:p14="http://schemas.microsoft.com/office/powerpoint/2010/main" val="3887704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6D9200-3E1C-C3FB-F124-9F4D898D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0463AA-6BF4-36F1-D3A6-FDD42736F805}"/>
              </a:ext>
            </a:extLst>
          </p:cNvPr>
          <p:cNvGraphicFramePr>
            <a:graphicFrameLocks noGrp="1"/>
          </p:cNvGraphicFramePr>
          <p:nvPr/>
        </p:nvGraphicFramePr>
        <p:xfrm>
          <a:off x="736599" y="1417320"/>
          <a:ext cx="8127999" cy="402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173551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1170641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71795553"/>
                    </a:ext>
                  </a:extLst>
                </a:gridCol>
              </a:tblGrid>
              <a:tr h="613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TL431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>
                          <a:solidFill>
                            <a:schemeClr val="tx1"/>
                          </a:solidFill>
                        </a:rPr>
                        <a:t>Typical Op-Amp (e.g. LM358)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415470"/>
                  </a:ext>
                </a:extLst>
              </a:tr>
              <a:tr h="350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Internal reference voltage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2.495 V ±1%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No internal reference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388040"/>
                  </a:ext>
                </a:extLst>
              </a:tr>
              <a:tr h="350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Supply voltage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2.5 V – 36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3 V – 32 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06357"/>
                  </a:ext>
                </a:extLst>
              </a:tr>
              <a:tr h="613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Cathode current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1 mA – 100 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/>
                        <a:t>Output current ≈ 20 mA max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71952"/>
                  </a:ext>
                </a:extLst>
              </a:tr>
              <a:tr h="613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Component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1 IC + 2 resistors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1 op-amp + reference + 4–6 resistors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852590"/>
                  </a:ext>
                </a:extLst>
              </a:tr>
              <a:tr h="350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Power consumption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≈2.5 </a:t>
                      </a:r>
                      <a:r>
                        <a:rPr lang="en-IN" b="0" dirty="0" err="1"/>
                        <a:t>mW</a:t>
                      </a:r>
                      <a:r>
                        <a:rPr lang="en-IN" b="0" dirty="0"/>
                        <a:t> (at 1 mA)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≈1–2 mA quiescent current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018120"/>
                  </a:ext>
                </a:extLst>
              </a:tr>
              <a:tr h="613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±1% reference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Depends on external reference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513085"/>
                  </a:ext>
                </a:extLst>
              </a:tr>
              <a:tr h="350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Cost (approx)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₹8–₹12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₹20–₹40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67344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7A29D85-C99D-3D21-3EBE-0BEA4E47A769}"/>
              </a:ext>
            </a:extLst>
          </p:cNvPr>
          <p:cNvSpPr txBox="1">
            <a:spLocks/>
          </p:cNvSpPr>
          <p:nvPr/>
        </p:nvSpPr>
        <p:spPr>
          <a:xfrm>
            <a:off x="658584" y="392341"/>
            <a:ext cx="1087483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Choice: TL431 vs Op-Amp Comparator</a:t>
            </a:r>
            <a:b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15EDB-439B-E673-0046-AE05CC92943E}"/>
              </a:ext>
            </a:extLst>
          </p:cNvPr>
          <p:cNvSpPr txBox="1"/>
          <p:nvPr/>
        </p:nvSpPr>
        <p:spPr>
          <a:xfrm>
            <a:off x="9089571" y="2274838"/>
            <a:ext cx="27323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Reason for Selecting TL431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Built-in 2.495 V precision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Fewer components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Simpler circuit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cost and power consumption</a:t>
            </a:r>
          </a:p>
        </p:txBody>
      </p:sp>
    </p:spTree>
    <p:extLst>
      <p:ext uri="{BB962C8B-B14F-4D97-AF65-F5344CB8AC3E}">
        <p14:creationId xmlns:p14="http://schemas.microsoft.com/office/powerpoint/2010/main" val="1979107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04633A-DBA2-050C-3298-319A7F4B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ACEF7F-3346-B067-ECA1-AC803A86E7F3}"/>
              </a:ext>
            </a:extLst>
          </p:cNvPr>
          <p:cNvGraphicFramePr>
            <a:graphicFrameLocks noGrp="1"/>
          </p:cNvGraphicFramePr>
          <p:nvPr/>
        </p:nvGraphicFramePr>
        <p:xfrm>
          <a:off x="1551213" y="1412708"/>
          <a:ext cx="9089571" cy="38196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07079">
                  <a:extLst>
                    <a:ext uri="{9D8B030D-6E8A-4147-A177-3AD203B41FA5}">
                      <a16:colId xmlns:a16="http://schemas.microsoft.com/office/drawing/2014/main" val="1375290698"/>
                    </a:ext>
                  </a:extLst>
                </a:gridCol>
                <a:gridCol w="2277835">
                  <a:extLst>
                    <a:ext uri="{9D8B030D-6E8A-4147-A177-3AD203B41FA5}">
                      <a16:colId xmlns:a16="http://schemas.microsoft.com/office/drawing/2014/main" val="812070744"/>
                    </a:ext>
                  </a:extLst>
                </a:gridCol>
                <a:gridCol w="2136323">
                  <a:extLst>
                    <a:ext uri="{9D8B030D-6E8A-4147-A177-3AD203B41FA5}">
                      <a16:colId xmlns:a16="http://schemas.microsoft.com/office/drawing/2014/main" val="2343857372"/>
                    </a:ext>
                  </a:extLst>
                </a:gridCol>
                <a:gridCol w="2468334">
                  <a:extLst>
                    <a:ext uri="{9D8B030D-6E8A-4147-A177-3AD203B41FA5}">
                      <a16:colId xmlns:a16="http://schemas.microsoft.com/office/drawing/2014/main" val="416499136"/>
                    </a:ext>
                  </a:extLst>
                </a:gridCol>
              </a:tblGrid>
              <a:tr h="61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in Circuit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TL431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2068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voltage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threshold reference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2.495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accurate voltage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43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 adjustment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Adjustable detection limits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Adjustable via resistor divider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Allows setting 3.0 V and 4.2 V thresholds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586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Precise detection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±1% typical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accurate than Zener diode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608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Ability to pull control node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sinking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window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436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circuit preferred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few resistors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circuit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80909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2902874E-A743-C0EE-AA50-D93AA47B5BD4}"/>
              </a:ext>
            </a:extLst>
          </p:cNvPr>
          <p:cNvSpPr txBox="1">
            <a:spLocks/>
          </p:cNvSpPr>
          <p:nvPr/>
        </p:nvSpPr>
        <p:spPr>
          <a:xfrm>
            <a:off x="838199" y="384175"/>
            <a:ext cx="1051560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TL431 Adjustable Shunt Voltage Reference</a:t>
            </a:r>
          </a:p>
        </p:txBody>
      </p:sp>
    </p:spTree>
    <p:extLst>
      <p:ext uri="{BB962C8B-B14F-4D97-AF65-F5344CB8AC3E}">
        <p14:creationId xmlns:p14="http://schemas.microsoft.com/office/powerpoint/2010/main" val="1361557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04E879-A027-276D-63D8-07FBAC82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F4E6BF-F6C7-A27A-2958-2D109A4AA47F}"/>
              </a:ext>
            </a:extLst>
          </p:cNvPr>
          <p:cNvGraphicFramePr>
            <a:graphicFrameLocks noGrp="1"/>
          </p:cNvGraphicFramePr>
          <p:nvPr/>
        </p:nvGraphicFramePr>
        <p:xfrm>
          <a:off x="1551213" y="1412708"/>
          <a:ext cx="9089571" cy="328119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07079">
                  <a:extLst>
                    <a:ext uri="{9D8B030D-6E8A-4147-A177-3AD203B41FA5}">
                      <a16:colId xmlns:a16="http://schemas.microsoft.com/office/drawing/2014/main" val="1375290698"/>
                    </a:ext>
                  </a:extLst>
                </a:gridCol>
                <a:gridCol w="2277835">
                  <a:extLst>
                    <a:ext uri="{9D8B030D-6E8A-4147-A177-3AD203B41FA5}">
                      <a16:colId xmlns:a16="http://schemas.microsoft.com/office/drawing/2014/main" val="812070744"/>
                    </a:ext>
                  </a:extLst>
                </a:gridCol>
                <a:gridCol w="2136323">
                  <a:extLst>
                    <a:ext uri="{9D8B030D-6E8A-4147-A177-3AD203B41FA5}">
                      <a16:colId xmlns:a16="http://schemas.microsoft.com/office/drawing/2014/main" val="2343857372"/>
                    </a:ext>
                  </a:extLst>
                </a:gridCol>
                <a:gridCol w="2468334">
                  <a:extLst>
                    <a:ext uri="{9D8B030D-6E8A-4147-A177-3AD203B41FA5}">
                      <a16:colId xmlns:a16="http://schemas.microsoft.com/office/drawing/2014/main" val="416499136"/>
                    </a:ext>
                  </a:extLst>
                </a:gridCol>
              </a:tblGrid>
              <a:tr h="61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in Circuit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BC547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2068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Transistor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NPN switching transistor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gate-driving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43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Collector current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≈0.33 mA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mA 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safety margin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586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gain (</a:t>
                      </a:r>
                      <a:r>
                        <a:rPr lang="el-G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Enough to saturate transistor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110–800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reliable switching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608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Voltage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&gt;3.3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 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436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&amp; 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Easily available 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common transistor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for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80909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DD4063A6-6378-7357-2E28-0B1623610465}"/>
              </a:ext>
            </a:extLst>
          </p:cNvPr>
          <p:cNvSpPr txBox="1">
            <a:spLocks/>
          </p:cNvSpPr>
          <p:nvPr/>
        </p:nvSpPr>
        <p:spPr>
          <a:xfrm>
            <a:off x="838199" y="384175"/>
            <a:ext cx="1051560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BC547 NPN Transistor</a:t>
            </a:r>
            <a:endParaRPr lang="en-US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747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C743B0-A04A-F3A6-C6A4-1B19CFF98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66A0E85-6C3C-7D56-0FA9-A0A7CEA6233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51213" y="1412708"/>
              <a:ext cx="9089571" cy="3858414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207079">
                      <a:extLst>
                        <a:ext uri="{9D8B030D-6E8A-4147-A177-3AD203B41FA5}">
                          <a16:colId xmlns:a16="http://schemas.microsoft.com/office/drawing/2014/main" val="1375290698"/>
                        </a:ext>
                      </a:extLst>
                    </a:gridCol>
                    <a:gridCol w="2277835">
                      <a:extLst>
                        <a:ext uri="{9D8B030D-6E8A-4147-A177-3AD203B41FA5}">
                          <a16:colId xmlns:a16="http://schemas.microsoft.com/office/drawing/2014/main" val="812070744"/>
                        </a:ext>
                      </a:extLst>
                    </a:gridCol>
                    <a:gridCol w="2136323">
                      <a:extLst>
                        <a:ext uri="{9D8B030D-6E8A-4147-A177-3AD203B41FA5}">
                          <a16:colId xmlns:a16="http://schemas.microsoft.com/office/drawing/2014/main" val="2343857372"/>
                        </a:ext>
                      </a:extLst>
                    </a:gridCol>
                    <a:gridCol w="2468334">
                      <a:extLst>
                        <a:ext uri="{9D8B030D-6E8A-4147-A177-3AD203B41FA5}">
                          <a16:colId xmlns:a16="http://schemas.microsoft.com/office/drawing/2014/main" val="416499136"/>
                        </a:ext>
                      </a:extLst>
                    </a:gridCol>
                  </a:tblGrid>
                  <a:tr h="6192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Required in Circuit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IRLZ44N 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Justification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0687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Gate drive voltage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Must operate at </a:t>
                          </a:r>
                          <a:r>
                            <a:rPr lang="en-US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Logic-level MOSFET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Fully turns ON with low gate voltage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7437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Threshold voltage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sub>
                              </m:sSub>
                            </m:oMath>
                          </a14:m>
                          <a:endParaRPr lang="ar-AE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&lt; 3.3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1–2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Ensures reliable switching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95865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Drain-source voltage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</m:oMath>
                          </a14:m>
                          <a:endParaRPr lang="ar-AE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 3.3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Very large safety margin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69608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capability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~6 mA load current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47 A max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Handles much higher current than required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0436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On-resistance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𝑜𝑛</m:t>
                                      </m:r>
                                    </m:e>
                                  </m:d>
                                </m:sub>
                              </m:sSub>
                            </m:oMath>
                          </a14:m>
                          <a:endParaRPr lang="ar-AE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 conduction loss required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~22 m</a:t>
                          </a:r>
                          <a:r>
                            <a:rPr lang="el-G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Very low power dissipation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28090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2321843-7A2B-D241-8219-058AF30C30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1560651"/>
                  </p:ext>
                </p:extLst>
              </p:nvPr>
            </p:nvGraphicFramePr>
            <p:xfrm>
              <a:off x="1551213" y="1412708"/>
              <a:ext cx="9089571" cy="3858414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207079">
                      <a:extLst>
                        <a:ext uri="{9D8B030D-6E8A-4147-A177-3AD203B41FA5}">
                          <a16:colId xmlns:a16="http://schemas.microsoft.com/office/drawing/2014/main" val="1375290698"/>
                        </a:ext>
                      </a:extLst>
                    </a:gridCol>
                    <a:gridCol w="2277835">
                      <a:extLst>
                        <a:ext uri="{9D8B030D-6E8A-4147-A177-3AD203B41FA5}">
                          <a16:colId xmlns:a16="http://schemas.microsoft.com/office/drawing/2014/main" val="812070744"/>
                        </a:ext>
                      </a:extLst>
                    </a:gridCol>
                    <a:gridCol w="2136323">
                      <a:extLst>
                        <a:ext uri="{9D8B030D-6E8A-4147-A177-3AD203B41FA5}">
                          <a16:colId xmlns:a16="http://schemas.microsoft.com/office/drawing/2014/main" val="2343857372"/>
                        </a:ext>
                      </a:extLst>
                    </a:gridCol>
                    <a:gridCol w="2468334">
                      <a:extLst>
                        <a:ext uri="{9D8B030D-6E8A-4147-A177-3AD203B41FA5}">
                          <a16:colId xmlns:a16="http://schemas.microsoft.com/office/drawing/2014/main" val="416499136"/>
                        </a:ext>
                      </a:extLst>
                    </a:gridCol>
                  </a:tblGrid>
                  <a:tr h="6192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Required in Circuit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IRLZ44N 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Justification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06875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Gate drive voltage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Must operate at </a:t>
                          </a:r>
                          <a:r>
                            <a:rPr lang="en-US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Logic-level MOSFET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Fully turns ON with low gate voltage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7437107"/>
                      </a:ext>
                    </a:extLst>
                  </a:tr>
                  <a:tr h="659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6" t="-192593" r="-313260" b="-3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&lt; 3.3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1–2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Ensures reliable switching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95865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6" t="-300952" r="-313260" b="-2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 3.3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Very large safety margin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6960897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capability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~6 mA load current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47 A max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Handles much higher current than required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0436944"/>
                      </a:ext>
                    </a:extLst>
                  </a:tr>
                  <a:tr h="659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6" t="-487963" r="-313260" b="-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 conduction loss required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~22 m</a:t>
                          </a:r>
                          <a:r>
                            <a:rPr lang="el-G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Very low power dissipation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28090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1CABDB94-EBD7-92D0-D6DC-F2DBDB96D61C}"/>
              </a:ext>
            </a:extLst>
          </p:cNvPr>
          <p:cNvSpPr txBox="1">
            <a:spLocks/>
          </p:cNvSpPr>
          <p:nvPr/>
        </p:nvSpPr>
        <p:spPr>
          <a:xfrm>
            <a:off x="838199" y="384175"/>
            <a:ext cx="1051560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IRLZ44N Logic-Level N-Channel MOSFET</a:t>
            </a:r>
            <a:b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67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BCA567-2325-ADD7-A292-E3B04229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FA95BE-0024-9F33-2270-84BEA4681D9D}"/>
              </a:ext>
            </a:extLst>
          </p:cNvPr>
          <p:cNvSpPr txBox="1">
            <a:spLocks/>
          </p:cNvSpPr>
          <p:nvPr/>
        </p:nvSpPr>
        <p:spPr>
          <a:xfrm>
            <a:off x="838199" y="384175"/>
            <a:ext cx="1051560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3C13FB-5685-9E93-1FCE-66F33E9EF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300" y="1504950"/>
            <a:ext cx="3975100" cy="423454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305B340-20EA-09F2-D5E2-105BBDC5E483}"/>
              </a:ext>
            </a:extLst>
          </p:cNvPr>
          <p:cNvSpPr txBox="1">
            <a:spLocks/>
          </p:cNvSpPr>
          <p:nvPr/>
        </p:nvSpPr>
        <p:spPr>
          <a:xfrm>
            <a:off x="990599" y="536575"/>
            <a:ext cx="10515600" cy="815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PCB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06A85-BEEB-9CF5-01EC-45362E8F40FF}"/>
              </a:ext>
            </a:extLst>
          </p:cNvPr>
          <p:cNvSpPr txBox="1"/>
          <p:nvPr/>
        </p:nvSpPr>
        <p:spPr>
          <a:xfrm>
            <a:off x="500743" y="1352550"/>
            <a:ext cx="697233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PCB implements the voltage protection circuit in a compact single-layer layout with organized component placement and routing.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 receives the monitored input voltage (Vin) and ground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 supplies +3.3 V and GND for circuit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Placement: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TL431 devices placed near the sensing network for accurate voltage detection.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BC547 transistor positioned between detection and switching stages to drive the MOSFET gate.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IRLZ44N MOSFET located close to the output path for efficient load switching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Parameters: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trace width: 0.30 mm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trace width: 0.50 mm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clearance: 0.18 mm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492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54BC-6339-3234-2676-1D480ABFE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AEE64B40-132C-B9BE-F756-182D7E364493}"/>
              </a:ext>
            </a:extLst>
          </p:cNvPr>
          <p:cNvSpPr txBox="1">
            <a:spLocks/>
          </p:cNvSpPr>
          <p:nvPr/>
        </p:nvSpPr>
        <p:spPr>
          <a:xfrm>
            <a:off x="2879857" y="156457"/>
            <a:ext cx="6432285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Gauge Block Diagram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E2E4F0-DF9F-523A-172C-444383E6FF43}"/>
              </a:ext>
            </a:extLst>
          </p:cNvPr>
          <p:cNvSpPr/>
          <p:nvPr/>
        </p:nvSpPr>
        <p:spPr>
          <a:xfrm>
            <a:off x="10209705" y="1159989"/>
            <a:ext cx="1785091" cy="4538022"/>
          </a:xfrm>
          <a:prstGeom prst="roundRect">
            <a:avLst>
              <a:gd name="adj" fmla="val 5467"/>
            </a:avLst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MICROCONTROLLER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92D11D-24CC-7366-1BF0-CC80CBF789AB}"/>
              </a:ext>
            </a:extLst>
          </p:cNvPr>
          <p:cNvSpPr/>
          <p:nvPr/>
        </p:nvSpPr>
        <p:spPr>
          <a:xfrm>
            <a:off x="665999" y="2965013"/>
            <a:ext cx="1785090" cy="933508"/>
          </a:xfrm>
          <a:prstGeom prst="roundRect">
            <a:avLst>
              <a:gd name="adj" fmla="val 13349"/>
            </a:avLst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CURRENT INTEGRATOR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493BD3-510B-B207-E78F-F34DB93A95EA}"/>
              </a:ext>
            </a:extLst>
          </p:cNvPr>
          <p:cNvSpPr/>
          <p:nvPr/>
        </p:nvSpPr>
        <p:spPr>
          <a:xfrm>
            <a:off x="688157" y="4558472"/>
            <a:ext cx="1785090" cy="10468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VOLTAGE MEASUREMENT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F80C2D-B95D-3D62-AF06-1C87DE153468}"/>
              </a:ext>
            </a:extLst>
          </p:cNvPr>
          <p:cNvSpPr/>
          <p:nvPr/>
        </p:nvSpPr>
        <p:spPr>
          <a:xfrm>
            <a:off x="2954410" y="1274410"/>
            <a:ext cx="1381071" cy="902122"/>
          </a:xfrm>
          <a:prstGeom prst="roundRect">
            <a:avLst>
              <a:gd name="adj" fmla="val 13666"/>
            </a:avLst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LOW PASS FILTER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7E07D3-0280-2CAF-7D5D-7A6EAD294927}"/>
              </a:ext>
            </a:extLst>
          </p:cNvPr>
          <p:cNvSpPr/>
          <p:nvPr/>
        </p:nvSpPr>
        <p:spPr>
          <a:xfrm>
            <a:off x="688157" y="1274410"/>
            <a:ext cx="1785090" cy="90212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CURRENT MEASUREMENT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6AEA172-DA67-42EF-EFAE-92A3EA74BF99}"/>
              </a:ext>
            </a:extLst>
          </p:cNvPr>
          <p:cNvSpPr/>
          <p:nvPr/>
        </p:nvSpPr>
        <p:spPr>
          <a:xfrm>
            <a:off x="2927100" y="2953964"/>
            <a:ext cx="2441442" cy="933508"/>
          </a:xfrm>
          <a:prstGeom prst="roundRect">
            <a:avLst>
              <a:gd name="adj" fmla="val 13349"/>
            </a:avLst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Bipolar to Unipolar Converter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F908F3-0A1E-112B-498C-80F5E52E714D}"/>
              </a:ext>
            </a:extLst>
          </p:cNvPr>
          <p:cNvSpPr/>
          <p:nvPr/>
        </p:nvSpPr>
        <p:spPr>
          <a:xfrm>
            <a:off x="2954409" y="4558472"/>
            <a:ext cx="1849866" cy="1046824"/>
          </a:xfrm>
          <a:prstGeom prst="roundRect">
            <a:avLst>
              <a:gd name="adj" fmla="val 13666"/>
            </a:avLst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LOW PASS FILTER</a:t>
            </a:r>
            <a:endParaRPr lang="en-IN" b="1" dirty="0">
              <a:solidFill>
                <a:srgbClr val="00206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D060C4A-49E4-238D-B1FB-FC0C38C3B53A}"/>
              </a:ext>
            </a:extLst>
          </p:cNvPr>
          <p:cNvSpPr/>
          <p:nvPr/>
        </p:nvSpPr>
        <p:spPr>
          <a:xfrm>
            <a:off x="5765708" y="2958180"/>
            <a:ext cx="1516753" cy="933508"/>
          </a:xfrm>
          <a:prstGeom prst="roundRect">
            <a:avLst>
              <a:gd name="adj" fmla="val 13349"/>
            </a:avLst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Anti-Aliasing LPF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0300433-AC36-0126-06B4-9715CD7C2AA3}"/>
              </a:ext>
            </a:extLst>
          </p:cNvPr>
          <p:cNvCxnSpPr>
            <a:cxnSpLocks/>
          </p:cNvCxnSpPr>
          <p:nvPr/>
        </p:nvCxnSpPr>
        <p:spPr>
          <a:xfrm>
            <a:off x="2451089" y="1726579"/>
            <a:ext cx="481163" cy="0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CFF452F-96D4-48E8-921B-95F91A7E58E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51089" y="3431767"/>
            <a:ext cx="459005" cy="0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DC573F0-6CFE-35BF-23E5-6A17E27F4ECD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2473247" y="5081884"/>
            <a:ext cx="481162" cy="0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4287D38-113B-93D2-5B3B-B0A68652462E}"/>
              </a:ext>
            </a:extLst>
          </p:cNvPr>
          <p:cNvCxnSpPr>
            <a:cxnSpLocks/>
            <a:stCxn id="25" idx="3"/>
            <a:endCxn id="65" idx="1"/>
          </p:cNvCxnSpPr>
          <p:nvPr/>
        </p:nvCxnSpPr>
        <p:spPr>
          <a:xfrm>
            <a:off x="5368542" y="3420718"/>
            <a:ext cx="397166" cy="4216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5D9A51E-57B2-BF31-3B3B-32E63CE9EED8}"/>
              </a:ext>
            </a:extLst>
          </p:cNvPr>
          <p:cNvSpPr/>
          <p:nvPr/>
        </p:nvSpPr>
        <p:spPr>
          <a:xfrm>
            <a:off x="7846728" y="2969656"/>
            <a:ext cx="1381071" cy="928861"/>
          </a:xfrm>
          <a:prstGeom prst="roundRect">
            <a:avLst>
              <a:gd name="adj" fmla="val 13666"/>
            </a:avLst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Analog Mux and ADC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CD63505-05C4-7430-E904-E818C41B8739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7265740" y="3429000"/>
            <a:ext cx="580988" cy="5087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CCEB4B22-21B5-ACC8-9F23-E416909C87E5}"/>
              </a:ext>
            </a:extLst>
          </p:cNvPr>
          <p:cNvCxnSpPr>
            <a:cxnSpLocks/>
            <a:stCxn id="127" idx="3"/>
            <a:endCxn id="3" idx="1"/>
          </p:cNvCxnSpPr>
          <p:nvPr/>
        </p:nvCxnSpPr>
        <p:spPr>
          <a:xfrm flipV="1">
            <a:off x="9227799" y="3429000"/>
            <a:ext cx="981906" cy="5087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5A2AB45-0C05-CF68-A486-4A0D8D53A3CF}"/>
              </a:ext>
            </a:extLst>
          </p:cNvPr>
          <p:cNvCxnSpPr>
            <a:stCxn id="7" idx="2"/>
            <a:endCxn id="4" idx="0"/>
          </p:cNvCxnSpPr>
          <p:nvPr/>
        </p:nvCxnSpPr>
        <p:spPr>
          <a:xfrm rot="5400000">
            <a:off x="2207505" y="1527571"/>
            <a:ext cx="788481" cy="2086402"/>
          </a:xfrm>
          <a:prstGeom prst="bentConnector3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F67B945-4A80-087F-6A9B-B8DDF2D79B61}"/>
              </a:ext>
            </a:extLst>
          </p:cNvPr>
          <p:cNvCxnSpPr>
            <a:stCxn id="7" idx="3"/>
            <a:endCxn id="127" idx="0"/>
          </p:cNvCxnSpPr>
          <p:nvPr/>
        </p:nvCxnSpPr>
        <p:spPr>
          <a:xfrm>
            <a:off x="4335481" y="1725471"/>
            <a:ext cx="4201783" cy="1244185"/>
          </a:xfrm>
          <a:prstGeom prst="bentConnector2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E1F2470-7523-4563-1726-62271CE2863A}"/>
              </a:ext>
            </a:extLst>
          </p:cNvPr>
          <p:cNvCxnSpPr>
            <a:stCxn id="15" idx="3"/>
            <a:endCxn id="127" idx="2"/>
          </p:cNvCxnSpPr>
          <p:nvPr/>
        </p:nvCxnSpPr>
        <p:spPr>
          <a:xfrm flipV="1">
            <a:off x="4804275" y="3898517"/>
            <a:ext cx="3732989" cy="1183367"/>
          </a:xfrm>
          <a:prstGeom prst="bentConnector2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109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AD0F121-5105-0359-FE95-7C6A2F194AA3}"/>
              </a:ext>
            </a:extLst>
          </p:cNvPr>
          <p:cNvSpPr txBox="1">
            <a:spLocks/>
          </p:cNvSpPr>
          <p:nvPr/>
        </p:nvSpPr>
        <p:spPr>
          <a:xfrm>
            <a:off x="528460" y="96957"/>
            <a:ext cx="1166354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Circuit Diagram of Fuel Gauge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7D2E620-6705-65AB-C38B-ECBCC3A2E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673" y="833358"/>
            <a:ext cx="9066315" cy="586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848CE2-D29E-9A02-1574-CAC305B378F7}"/>
              </a:ext>
            </a:extLst>
          </p:cNvPr>
          <p:cNvSpPr/>
          <p:nvPr/>
        </p:nvSpPr>
        <p:spPr>
          <a:xfrm>
            <a:off x="1775651" y="904884"/>
            <a:ext cx="1972257" cy="1769682"/>
          </a:xfrm>
          <a:prstGeom prst="roundRect">
            <a:avLst>
              <a:gd name="adj" fmla="val 8685"/>
            </a:avLst>
          </a:prstGeom>
          <a:solidFill>
            <a:schemeClr val="accent6">
              <a:lumMod val="75000"/>
              <a:alpha val="1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31097F-6ECE-3ED0-9ABA-422E2B12FC96}"/>
              </a:ext>
            </a:extLst>
          </p:cNvPr>
          <p:cNvSpPr/>
          <p:nvPr/>
        </p:nvSpPr>
        <p:spPr>
          <a:xfrm>
            <a:off x="3747908" y="957511"/>
            <a:ext cx="1731914" cy="1425677"/>
          </a:xfrm>
          <a:prstGeom prst="roundRect">
            <a:avLst>
              <a:gd name="adj" fmla="val 8685"/>
            </a:avLst>
          </a:prstGeom>
          <a:solidFill>
            <a:schemeClr val="accent4">
              <a:alpha val="1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F62DAF-1703-C1D5-87E4-B7303F339AE1}"/>
              </a:ext>
            </a:extLst>
          </p:cNvPr>
          <p:cNvSpPr/>
          <p:nvPr/>
        </p:nvSpPr>
        <p:spPr>
          <a:xfrm>
            <a:off x="1685012" y="2674566"/>
            <a:ext cx="2045431" cy="1837127"/>
          </a:xfrm>
          <a:prstGeom prst="roundRect">
            <a:avLst>
              <a:gd name="adj" fmla="val 8685"/>
            </a:avLst>
          </a:prstGeom>
          <a:solidFill>
            <a:schemeClr val="accent1">
              <a:alpha val="1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AD1C62-B9C1-91FA-133D-291E7B7AA4E1}"/>
              </a:ext>
            </a:extLst>
          </p:cNvPr>
          <p:cNvSpPr/>
          <p:nvPr/>
        </p:nvSpPr>
        <p:spPr>
          <a:xfrm>
            <a:off x="3730443" y="2570314"/>
            <a:ext cx="3909370" cy="2178674"/>
          </a:xfrm>
          <a:prstGeom prst="roundRect">
            <a:avLst>
              <a:gd name="adj" fmla="val 8667"/>
            </a:avLst>
          </a:prstGeom>
          <a:solidFill>
            <a:srgbClr val="FF0000">
              <a:alpha val="10000"/>
            </a:srgb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E59A25-CCEF-BB32-5C83-4F6D07B35055}"/>
              </a:ext>
            </a:extLst>
          </p:cNvPr>
          <p:cNvSpPr/>
          <p:nvPr/>
        </p:nvSpPr>
        <p:spPr>
          <a:xfrm>
            <a:off x="7639813" y="2432388"/>
            <a:ext cx="1795908" cy="1875934"/>
          </a:xfrm>
          <a:prstGeom prst="roundRect">
            <a:avLst>
              <a:gd name="adj" fmla="val 8685"/>
            </a:avLst>
          </a:prstGeom>
          <a:solidFill>
            <a:schemeClr val="accent4">
              <a:alpha val="1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682086-C194-38B0-8AF8-C1BE81BCCD85}"/>
              </a:ext>
            </a:extLst>
          </p:cNvPr>
          <p:cNvSpPr/>
          <p:nvPr/>
        </p:nvSpPr>
        <p:spPr>
          <a:xfrm>
            <a:off x="3457405" y="5104469"/>
            <a:ext cx="3943313" cy="1477461"/>
          </a:xfrm>
          <a:prstGeom prst="roundRect">
            <a:avLst>
              <a:gd name="adj" fmla="val 7067"/>
            </a:avLst>
          </a:prstGeom>
          <a:solidFill>
            <a:schemeClr val="accent6">
              <a:alpha val="1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A64351-27E1-70A6-7FF4-2D2D704EA745}"/>
              </a:ext>
            </a:extLst>
          </p:cNvPr>
          <p:cNvSpPr/>
          <p:nvPr/>
        </p:nvSpPr>
        <p:spPr>
          <a:xfrm>
            <a:off x="7400718" y="5101538"/>
            <a:ext cx="1730125" cy="1477461"/>
          </a:xfrm>
          <a:prstGeom prst="roundRect">
            <a:avLst>
              <a:gd name="adj" fmla="val 7539"/>
            </a:avLst>
          </a:prstGeom>
          <a:solidFill>
            <a:srgbClr val="002060">
              <a:alpha val="10000"/>
            </a:srgb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39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9E2DC-DFE0-0FC3-4EF5-5B27B893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DD63D66A-A135-6C8C-AA51-356E4DBBDD31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P-AMP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DB5FE-215B-610E-38E2-AAB65CDA92A0}"/>
              </a:ext>
            </a:extLst>
          </p:cNvPr>
          <p:cNvSpPr txBox="1">
            <a:spLocks/>
          </p:cNvSpPr>
          <p:nvPr/>
        </p:nvSpPr>
        <p:spPr>
          <a:xfrm>
            <a:off x="1016957" y="1334279"/>
            <a:ext cx="10158085" cy="4229774"/>
          </a:xfrm>
          <a:prstGeom prst="rect">
            <a:avLst/>
          </a:prstGeom>
        </p:spPr>
        <p:txBody>
          <a:bodyPr numCol="3" spcCol="144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A7D42DE-BE18-470C-6739-A712A3ADD3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9031" y="1234652"/>
              <a:ext cx="11653936" cy="4329400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2358070">
                      <a:extLst>
                        <a:ext uri="{9D8B030D-6E8A-4147-A177-3AD203B41FA5}">
                          <a16:colId xmlns:a16="http://schemas.microsoft.com/office/drawing/2014/main" val="4102260970"/>
                        </a:ext>
                      </a:extLst>
                    </a:gridCol>
                    <a:gridCol w="1526574">
                      <a:extLst>
                        <a:ext uri="{9D8B030D-6E8A-4147-A177-3AD203B41FA5}">
                          <a16:colId xmlns:a16="http://schemas.microsoft.com/office/drawing/2014/main" val="1385174597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01019967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238276963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3220985376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274024014"/>
                        </a:ext>
                      </a:extLst>
                    </a:gridCol>
                  </a:tblGrid>
                  <a:tr h="541175">
                    <a:tc>
                      <a:txBody>
                        <a:bodyPr/>
                        <a:lstStyle/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LM741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LM358N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LF353-N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TL074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NE5532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301458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𝑠𝑢𝑝𝑝𝑙𝑦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 22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V</m:t>
                                </m:r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32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18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32392462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𝑉𝑜𝑙𝑡𝑎𝑔𝑒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𝐺𝑎𝑖𝑛</m:t>
                                </m:r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5486957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𝑖𝑛𝑝𝑢𝑡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10^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10^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0.3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2063984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𝑆𝑙𝑒𝑤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𝑅𝑎𝑡𝑒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0.7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0.9 V/us 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4423678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𝑜𝑝𝑒𝑟𝑎𝑡𝑖𝑛𝑔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–50 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to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 125 °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70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150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70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-65 to 150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6435601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𝑜𝑝𝑎𝑚𝑝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𝑐𝑜𝑢𝑛𝑡</m:t>
                                </m:r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2935633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𝑐𝑜𝑠𝑡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𝑝𝑒𝑟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𝑝𝑖𝑒𝑐𝑒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26.55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375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A7D42DE-BE18-470C-6739-A712A3ADD3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7434835"/>
                  </p:ext>
                </p:extLst>
              </p:nvPr>
            </p:nvGraphicFramePr>
            <p:xfrm>
              <a:off x="269031" y="1234652"/>
              <a:ext cx="11653936" cy="4329400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2358070">
                      <a:extLst>
                        <a:ext uri="{9D8B030D-6E8A-4147-A177-3AD203B41FA5}">
                          <a16:colId xmlns:a16="http://schemas.microsoft.com/office/drawing/2014/main" val="4102260970"/>
                        </a:ext>
                      </a:extLst>
                    </a:gridCol>
                    <a:gridCol w="1526574">
                      <a:extLst>
                        <a:ext uri="{9D8B030D-6E8A-4147-A177-3AD203B41FA5}">
                          <a16:colId xmlns:a16="http://schemas.microsoft.com/office/drawing/2014/main" val="1385174597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01019967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238276963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3220985376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274024014"/>
                        </a:ext>
                      </a:extLst>
                    </a:gridCol>
                  </a:tblGrid>
                  <a:tr h="541175">
                    <a:tc>
                      <a:txBody>
                        <a:bodyPr/>
                        <a:lstStyle/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LM741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LM358N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LF353-N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TL074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NE5532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301458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101124" r="-394832" b="-6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5200" t="-101124" r="-511200" b="-6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32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18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32392462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201124" r="-394832" b="-5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5486957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301124" r="-394832" b="-4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10^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10^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0.3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2063984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405682" r="-394832" b="-305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0.7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0.9 V/us 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4423678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500000" r="-394832" b="-2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5200" t="-500000" r="-511200" b="-2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70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150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70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-65 to 150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6435601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600000" r="-394832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2935633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700000" r="-394832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26.55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3754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33DDBDA-A871-BC0F-3DC5-E15994A73E68}"/>
              </a:ext>
            </a:extLst>
          </p:cNvPr>
          <p:cNvSpPr/>
          <p:nvPr/>
        </p:nvSpPr>
        <p:spPr>
          <a:xfrm>
            <a:off x="8014995" y="1234651"/>
            <a:ext cx="1943878" cy="4329401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516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F8093D-2C6D-2748-3C54-4D8A397E1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5A5F6321-BC87-6EB8-0732-5382ABF40334}"/>
              </a:ext>
            </a:extLst>
          </p:cNvPr>
          <p:cNvSpPr txBox="1">
            <a:spLocks/>
          </p:cNvSpPr>
          <p:nvPr/>
        </p:nvSpPr>
        <p:spPr>
          <a:xfrm>
            <a:off x="2709485" y="173080"/>
            <a:ext cx="6773029" cy="7526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Measurement Circuit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0D0CA-5F10-5EF5-A936-2FD5B16B653F}"/>
              </a:ext>
            </a:extLst>
          </p:cNvPr>
          <p:cNvSpPr txBox="1"/>
          <p:nvPr/>
        </p:nvSpPr>
        <p:spPr>
          <a:xfrm>
            <a:off x="3004794" y="322783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64043-5520-A376-9C71-8FD51E6A6073}"/>
              </a:ext>
            </a:extLst>
          </p:cNvPr>
          <p:cNvSpPr txBox="1"/>
          <p:nvPr/>
        </p:nvSpPr>
        <p:spPr>
          <a:xfrm>
            <a:off x="3004794" y="322783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A1E6BBD-0C4A-742F-CCDD-80EE9AC2A7E5}"/>
              </a:ext>
            </a:extLst>
          </p:cNvPr>
          <p:cNvSpPr txBox="1">
            <a:spLocks/>
          </p:cNvSpPr>
          <p:nvPr/>
        </p:nvSpPr>
        <p:spPr>
          <a:xfrm>
            <a:off x="341161" y="1346672"/>
            <a:ext cx="6993776" cy="4500993"/>
          </a:xfrm>
          <a:prstGeom prst="rect">
            <a:avLst/>
          </a:prstGeom>
        </p:spPr>
        <p:txBody>
          <a:bodyPr numCol="1" spcCol="144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Voltage OP-AMP circuit [3]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R1=R2=R3=R4=1Kohm then we get,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4BC019F-CBE7-0646-C371-18D0757E6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57" y="2046737"/>
            <a:ext cx="6258934" cy="113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62B3B18-F6FC-8F92-A320-EFBF695D5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52" y="1693108"/>
            <a:ext cx="4746036" cy="311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25FD7F-CDFA-FD48-1C49-15BBF70BD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837" y="4190697"/>
            <a:ext cx="2715004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93C9EE-7D00-B062-8114-FC83BDD4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9281CC2F-8D87-2BF6-88A3-3920CC74448E}"/>
              </a:ext>
            </a:extLst>
          </p:cNvPr>
          <p:cNvSpPr txBox="1">
            <a:spLocks/>
          </p:cNvSpPr>
          <p:nvPr/>
        </p:nvSpPr>
        <p:spPr>
          <a:xfrm>
            <a:off x="467175" y="147913"/>
            <a:ext cx="1051560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Measurement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3FDB2-44A4-DC1A-812A-02F2230B4030}"/>
              </a:ext>
            </a:extLst>
          </p:cNvPr>
          <p:cNvSpPr txBox="1"/>
          <p:nvPr/>
        </p:nvSpPr>
        <p:spPr>
          <a:xfrm>
            <a:off x="3004794" y="322783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4DD66-1EBB-6943-F4FB-F35974489BA8}"/>
              </a:ext>
            </a:extLst>
          </p:cNvPr>
          <p:cNvSpPr txBox="1"/>
          <p:nvPr/>
        </p:nvSpPr>
        <p:spPr>
          <a:xfrm>
            <a:off x="3004794" y="322783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0529A5E-4EF6-1072-CE49-A8D875D86286}"/>
              </a:ext>
            </a:extLst>
          </p:cNvPr>
          <p:cNvSpPr txBox="1">
            <a:spLocks/>
          </p:cNvSpPr>
          <p:nvPr/>
        </p:nvSpPr>
        <p:spPr>
          <a:xfrm>
            <a:off x="417456" y="1259224"/>
            <a:ext cx="10158085" cy="4556097"/>
          </a:xfrm>
          <a:prstGeom prst="rect">
            <a:avLst/>
          </a:prstGeom>
        </p:spPr>
        <p:txBody>
          <a:bodyPr numCol="1" spcCol="144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Voltage measurement.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voltage across shunt resistor.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resistors such that Vout = current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of resistors used are: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Rshunt = 0.1 ohm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= 100 ohm, R3 = 1k ohm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5B62A69-2237-7ED5-6842-95A19DA63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081" y="2387494"/>
            <a:ext cx="366712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63EFCBE-C97A-0029-23CB-A44D57E44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938" y="3536199"/>
            <a:ext cx="1901636" cy="104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C3F746E-61F9-05FC-7A40-A8C2632C3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975" y="1440317"/>
            <a:ext cx="5726105" cy="3544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457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78089-310F-D4EC-BA87-2BF4D7CB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1F2093C0-3C1A-F7AA-7E23-A6DB06DA02E3}"/>
              </a:ext>
            </a:extLst>
          </p:cNvPr>
          <p:cNvSpPr txBox="1">
            <a:spLocks/>
          </p:cNvSpPr>
          <p:nvPr/>
        </p:nvSpPr>
        <p:spPr>
          <a:xfrm>
            <a:off x="150830" y="147913"/>
            <a:ext cx="1166354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3rd Order Butterworth Low Pass Filter [Sallen Key Topology]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EB17B-5C0D-A180-8AFF-5BFCC7D693FA}"/>
              </a:ext>
            </a:extLst>
          </p:cNvPr>
          <p:cNvSpPr txBox="1"/>
          <p:nvPr/>
        </p:nvSpPr>
        <p:spPr>
          <a:xfrm>
            <a:off x="3004794" y="322783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63FAC-8489-529E-4454-0173D5D7F32D}"/>
              </a:ext>
            </a:extLst>
          </p:cNvPr>
          <p:cNvSpPr txBox="1"/>
          <p:nvPr/>
        </p:nvSpPr>
        <p:spPr>
          <a:xfrm>
            <a:off x="3004794" y="322783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AD254D2-9342-D032-0C35-2BC74B770926}"/>
              </a:ext>
            </a:extLst>
          </p:cNvPr>
          <p:cNvSpPr txBox="1">
            <a:spLocks/>
          </p:cNvSpPr>
          <p:nvPr/>
        </p:nvSpPr>
        <p:spPr>
          <a:xfrm>
            <a:off x="417456" y="1241531"/>
            <a:ext cx="5493150" cy="4650221"/>
          </a:xfrm>
          <a:prstGeom prst="rect">
            <a:avLst/>
          </a:prstGeom>
        </p:spPr>
        <p:txBody>
          <a:bodyPr numCol="1" spcCol="144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Maximally Flat magnitude filter (no ripple)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1st order RC circuit and 2nd order Sallen-Key Filter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&amp; unnormalized 3rd order Butterworth Polynomial: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D985873-633E-56D5-7487-446AE07E1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37137"/>
            <a:ext cx="55245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A25C404-10B5-5A48-8752-DF7D22CBA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51" y="3221719"/>
            <a:ext cx="5564998" cy="113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D74BE11-1E36-A7E4-E823-254B43B1B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82" y="4355184"/>
            <a:ext cx="3973623" cy="134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189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B0B52C-6E83-E88D-D700-9BCD2E51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9A27A285-34FE-A8B3-06E5-42B94C27DF5D}"/>
              </a:ext>
            </a:extLst>
          </p:cNvPr>
          <p:cNvSpPr txBox="1">
            <a:spLocks/>
          </p:cNvSpPr>
          <p:nvPr/>
        </p:nvSpPr>
        <p:spPr>
          <a:xfrm>
            <a:off x="150830" y="147913"/>
            <a:ext cx="1166354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3rd Order Butterworth Low Pass Filter [Sallen Key Topology]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05734-2863-7114-1D86-8CEA509EC192}"/>
              </a:ext>
            </a:extLst>
          </p:cNvPr>
          <p:cNvSpPr txBox="1"/>
          <p:nvPr/>
        </p:nvSpPr>
        <p:spPr>
          <a:xfrm>
            <a:off x="3004794" y="322783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FD6C0-BB21-6420-04F4-E28FC4BCE679}"/>
              </a:ext>
            </a:extLst>
          </p:cNvPr>
          <p:cNvSpPr txBox="1"/>
          <p:nvPr/>
        </p:nvSpPr>
        <p:spPr>
          <a:xfrm>
            <a:off x="3004794" y="322783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F1EAA9A-9DC4-0423-90AA-2505F4A48986}"/>
              </a:ext>
            </a:extLst>
          </p:cNvPr>
          <p:cNvSpPr txBox="1">
            <a:spLocks/>
          </p:cNvSpPr>
          <p:nvPr/>
        </p:nvSpPr>
        <p:spPr>
          <a:xfrm>
            <a:off x="417456" y="1241531"/>
            <a:ext cx="5493150" cy="4650221"/>
          </a:xfrm>
          <a:prstGeom prst="rect">
            <a:avLst/>
          </a:prstGeom>
        </p:spPr>
        <p:txBody>
          <a:bodyPr numCol="1" spcCol="144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design process,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R1=R2=R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C1=C2=C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 and R4 are used to set gain.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cutoff frequency of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 = R4 = 1k ohm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of LPF = 2*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9B4C1E3-2E7A-EB06-C947-68A921578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06" y="3034841"/>
            <a:ext cx="3008071" cy="97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866E48E-C515-4228-CD6D-B4F12D4A6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2577" y="3034840"/>
            <a:ext cx="1555943" cy="97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5994A2C8-4C8A-FA99-78A7-029615C2F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418" y="4006392"/>
            <a:ext cx="2235425" cy="94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90F99A5C-609C-F39E-BA8F-6D1C207FF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967" y="2077039"/>
            <a:ext cx="6237403" cy="249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806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B0B52C-6E83-E88D-D700-9BCD2E51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9A27A285-34FE-A8B3-06E5-42B94C27DF5D}"/>
              </a:ext>
            </a:extLst>
          </p:cNvPr>
          <p:cNvSpPr txBox="1">
            <a:spLocks/>
          </p:cNvSpPr>
          <p:nvPr/>
        </p:nvSpPr>
        <p:spPr>
          <a:xfrm>
            <a:off x="150830" y="147913"/>
            <a:ext cx="1166354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3rd Order Butterworth Low Pass Filter [Sallen Key Topology]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05734-2863-7114-1D86-8CEA509EC192}"/>
              </a:ext>
            </a:extLst>
          </p:cNvPr>
          <p:cNvSpPr txBox="1"/>
          <p:nvPr/>
        </p:nvSpPr>
        <p:spPr>
          <a:xfrm>
            <a:off x="3004794" y="322783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F1EAA9A-9DC4-0423-90AA-2505F4A48986}"/>
              </a:ext>
            </a:extLst>
          </p:cNvPr>
          <p:cNvSpPr txBox="1">
            <a:spLocks/>
          </p:cNvSpPr>
          <p:nvPr/>
        </p:nvSpPr>
        <p:spPr>
          <a:xfrm>
            <a:off x="417456" y="1241531"/>
            <a:ext cx="5493150" cy="4650221"/>
          </a:xfrm>
          <a:prstGeom prst="rect">
            <a:avLst/>
          </a:prstGeom>
        </p:spPr>
        <p:txBody>
          <a:bodyPr numCol="1" spcCol="144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cut-off frequency directly depends upon the switching frequency of the cell-balancing circuit.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switching rate is set to 100Hz, hence the cut off frequency should be 100Hz.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C = 2.2uF then, 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 = 723.43 ohms =&gt; 715 ohm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90F99A5C-609C-F39E-BA8F-6D1C207FF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967" y="2077039"/>
            <a:ext cx="6237403" cy="249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F6248E-5A91-A2CB-A7F5-1FDB23900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421" y="3143210"/>
            <a:ext cx="1657581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26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71A0D4-51A2-DCCD-0675-B5AE6AB16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78479274-3F37-32FA-6B14-E96F66CD121C}"/>
              </a:ext>
            </a:extLst>
          </p:cNvPr>
          <p:cNvSpPr txBox="1">
            <a:spLocks/>
          </p:cNvSpPr>
          <p:nvPr/>
        </p:nvSpPr>
        <p:spPr>
          <a:xfrm>
            <a:off x="150830" y="147913"/>
            <a:ext cx="1166354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A3CD2-72A8-5F82-64AC-1573D202F187}"/>
              </a:ext>
            </a:extLst>
          </p:cNvPr>
          <p:cNvSpPr txBox="1"/>
          <p:nvPr/>
        </p:nvSpPr>
        <p:spPr>
          <a:xfrm>
            <a:off x="3004794" y="322783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1BD95-525D-ECA0-2B4A-FEFA3954DC42}"/>
              </a:ext>
            </a:extLst>
          </p:cNvPr>
          <p:cNvSpPr txBox="1"/>
          <p:nvPr/>
        </p:nvSpPr>
        <p:spPr>
          <a:xfrm>
            <a:off x="3004794" y="3227837"/>
            <a:ext cx="61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A257D3DC-FE02-DE42-43F5-C28F607B4A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0260" y="949716"/>
                <a:ext cx="5493150" cy="4793242"/>
              </a:xfrm>
              <a:prstGeom prst="rect">
                <a:avLst/>
              </a:prstGeom>
            </p:spPr>
            <p:txBody>
              <a:bodyPr numCol="1" spcCol="144000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Vout = Vsat should represent fully charged/discharged state of the cell.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capacity of cell = X Amp-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Hr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X*3600 A-sec = X*3600 C then,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Capacity of a cell X = 4.5 A-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Hr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let C = 2,200uF then, R1 = 2.945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Mohms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R2 is used to discharge C before starting new measurement cycle. R2 = 100, hence,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Time constant = 0.22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𝑐𝑎𝑝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=50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𝑚𝐴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A257D3DC-FE02-DE42-43F5-C28F607B4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60" y="949716"/>
                <a:ext cx="5493150" cy="4793242"/>
              </a:xfrm>
              <a:prstGeom prst="rect">
                <a:avLst/>
              </a:prstGeom>
              <a:blipFill>
                <a:blip r:embed="rId2"/>
                <a:stretch>
                  <a:fillRect l="-999" t="-763" r="-5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6" name="Picture 8">
            <a:extLst>
              <a:ext uri="{FF2B5EF4-FFF2-40B4-BE49-F238E27FC236}">
                <a16:creationId xmlns:a16="http://schemas.microsoft.com/office/drawing/2014/main" id="{65939E41-3CA8-D8F9-35B2-E478605B2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8371" y="1896024"/>
            <a:ext cx="3024255" cy="340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814155-5AB4-C14B-6605-92C794516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115368"/>
            <a:ext cx="5297598" cy="10242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0C053E-D636-C1AC-AF7A-2D9483E9B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6672" y="2286352"/>
            <a:ext cx="1903535" cy="129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22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6DEA16C-BD7A-1070-D736-89118B842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D91F6B23-E78E-4392-9FED-4D7046071083}"/>
              </a:ext>
            </a:extLst>
          </p:cNvPr>
          <p:cNvSpPr txBox="1">
            <a:spLocks/>
          </p:cNvSpPr>
          <p:nvPr/>
        </p:nvSpPr>
        <p:spPr>
          <a:xfrm>
            <a:off x="2373197" y="331365"/>
            <a:ext cx="8395671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Bipolar to Unipolar Convertor [1]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B20B08-8DC5-6BD2-DEA6-4B17DF803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048" y="1914319"/>
            <a:ext cx="4685478" cy="26774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31A97E-196A-5B2A-7773-C4EA20961C51}"/>
              </a:ext>
            </a:extLst>
          </p:cNvPr>
          <p:cNvSpPr txBox="1"/>
          <p:nvPr/>
        </p:nvSpPr>
        <p:spPr>
          <a:xfrm>
            <a:off x="467067" y="1351508"/>
            <a:ext cx="62995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summing amplifier circuit can be used to convert a bipolar signal into a unipolar signal.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attenuating the signal from [-5,5V] to [0,5V]. Hence, the Gain is 0.5.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Rf = 1K ohm then, R1 = 2K ohm.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Vout should be zero when Vin is -5V.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Voffset = 5V then, R2 = 2K ohm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E05A4C-1347-5FFC-B48B-6057F385E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905" y="2053390"/>
            <a:ext cx="4613622" cy="9577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D17709-EE40-55E5-6A24-0A4AEA63E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43" y="4567883"/>
            <a:ext cx="1639968" cy="72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716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4A1FCA-4351-354B-C96A-256B2FC8C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46746FFB-AA83-EA60-AF33-EB2881FB0CA8}"/>
              </a:ext>
            </a:extLst>
          </p:cNvPr>
          <p:cNvSpPr txBox="1">
            <a:spLocks/>
          </p:cNvSpPr>
          <p:nvPr/>
        </p:nvSpPr>
        <p:spPr>
          <a:xfrm>
            <a:off x="2595253" y="331365"/>
            <a:ext cx="7001493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Anti-Aliasing Low Pass Filter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243EC-D14A-E647-2259-2348B58C3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219" y="1924186"/>
            <a:ext cx="4406991" cy="26441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5E3438-6E8D-D50C-493B-40BB0D87449D}"/>
              </a:ext>
            </a:extLst>
          </p:cNvPr>
          <p:cNvSpPr txBox="1"/>
          <p:nvPr/>
        </p:nvSpPr>
        <p:spPr>
          <a:xfrm>
            <a:off x="539430" y="1453830"/>
            <a:ext cx="56705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pass filter which follows Nyquist-Shannon Sampling Theorem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 of ADC = 860Hz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cut off frequency of LPF should be less than or equal to 430Hz.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select C = 2.2uF then, R = 169 ohm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3671D3-410F-58F5-9EAA-7EA6582C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203" y="2600209"/>
            <a:ext cx="3086531" cy="552527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DF6E5587-6594-55BC-FD64-615024275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333" y="4443391"/>
            <a:ext cx="1555943" cy="97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452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147C59-5BB5-C850-E025-A8642091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40D849E5-1BD3-252B-554B-6F80CF263671}"/>
              </a:ext>
            </a:extLst>
          </p:cNvPr>
          <p:cNvSpPr txBox="1">
            <a:spLocks/>
          </p:cNvSpPr>
          <p:nvPr/>
        </p:nvSpPr>
        <p:spPr>
          <a:xfrm>
            <a:off x="3828930" y="337944"/>
            <a:ext cx="453414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F5E16D-9754-E496-1C5F-BA56F17BA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29" y="1063617"/>
            <a:ext cx="9617646" cy="4656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7113A3-CF1F-B095-6B39-1D6EA9170C99}"/>
              </a:ext>
            </a:extLst>
          </p:cNvPr>
          <p:cNvSpPr txBox="1"/>
          <p:nvPr/>
        </p:nvSpPr>
        <p:spPr>
          <a:xfrm>
            <a:off x="8709826" y="4525950"/>
            <a:ext cx="1973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Legend</a:t>
            </a:r>
          </a:p>
          <a:p>
            <a:r>
              <a:rPr lang="en-IN" sz="1000" dirty="0"/>
              <a:t>Green line: Noisy current                          measurement signal</a:t>
            </a:r>
          </a:p>
          <a:p>
            <a:r>
              <a:rPr lang="en-GB" sz="1000" dirty="0"/>
              <a:t>Blue line: Final Coulomb Counting output</a:t>
            </a:r>
          </a:p>
        </p:txBody>
      </p:sp>
    </p:spTree>
    <p:extLst>
      <p:ext uri="{BB962C8B-B14F-4D97-AF65-F5344CB8AC3E}">
        <p14:creationId xmlns:p14="http://schemas.microsoft.com/office/powerpoint/2010/main" val="3321630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466F0D-FFEF-D794-F216-A92806C4A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81C51740-0B0B-30A1-6615-735DD35071BD}"/>
              </a:ext>
            </a:extLst>
          </p:cNvPr>
          <p:cNvSpPr txBox="1">
            <a:spLocks/>
          </p:cNvSpPr>
          <p:nvPr/>
        </p:nvSpPr>
        <p:spPr>
          <a:xfrm>
            <a:off x="3828930" y="239267"/>
            <a:ext cx="453414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5B724C-2EE2-AA53-EDF7-520D855FF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72" y="992120"/>
            <a:ext cx="9841312" cy="489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09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1346937-1DFD-2AF4-3518-A2513EE80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D550A5BF-A0E4-B206-6FE6-BE9A7FDB7361}"/>
              </a:ext>
            </a:extLst>
          </p:cNvPr>
          <p:cNvSpPr txBox="1">
            <a:spLocks/>
          </p:cNvSpPr>
          <p:nvPr/>
        </p:nvSpPr>
        <p:spPr>
          <a:xfrm>
            <a:off x="1185212" y="219531"/>
            <a:ext cx="9821576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Calculations to verify Simulations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D020D-ED54-92BC-D3A4-004856ED2BDB}"/>
              </a:ext>
            </a:extLst>
          </p:cNvPr>
          <p:cNvSpPr txBox="1"/>
          <p:nvPr/>
        </p:nvSpPr>
        <p:spPr>
          <a:xfrm>
            <a:off x="468165" y="1073482"/>
            <a:ext cx="57944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assume that the cell is fully charged and its capacity is 4.5 Amp-Hr. It is connected to external load and the current is 2A. 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659C0-EC88-DD57-7347-2D666493B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762" y="1094912"/>
            <a:ext cx="3929546" cy="1287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F3E440-4753-9400-9B87-93F2DAE1CDDE}"/>
              </a:ext>
            </a:extLst>
          </p:cNvPr>
          <p:cNvSpPr txBox="1"/>
          <p:nvPr/>
        </p:nvSpPr>
        <p:spPr>
          <a:xfrm>
            <a:off x="468165" y="2598003"/>
            <a:ext cx="5991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 represents complete discharged state, i.e., 16200C have been supplied to the load</a:t>
            </a:r>
            <a:r>
              <a:rPr lang="en-IN" dirty="0"/>
              <a:t>.</a:t>
            </a:r>
            <a:endParaRPr lang="en-GB" dirty="0"/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E0298-B3BF-288E-F349-E09D15A65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28" y="2598003"/>
            <a:ext cx="5887272" cy="1028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5FDAC8-21F0-5916-5131-27535CC4C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006" y="3907329"/>
            <a:ext cx="2029108" cy="14289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AFAAFF-D144-E82B-2C08-5B962716F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762" y="3664407"/>
            <a:ext cx="2648320" cy="19147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F29D060-A154-46DA-7114-70C87F81C4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18" y="4069275"/>
            <a:ext cx="2990475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45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8C21D5-2B68-CC4E-3113-E34948A05B84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783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Gauge Schematic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0B97DA-9E01-17B1-91FC-1D4985FB6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326" y="1092017"/>
            <a:ext cx="9227347" cy="541027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3DC54-3F29-0AF9-8DC1-670C3AD59215}"/>
              </a:ext>
            </a:extLst>
          </p:cNvPr>
          <p:cNvSpPr/>
          <p:nvPr/>
        </p:nvSpPr>
        <p:spPr>
          <a:xfrm>
            <a:off x="5841635" y="4946970"/>
            <a:ext cx="1677496" cy="1499880"/>
          </a:xfrm>
          <a:prstGeom prst="roundRect">
            <a:avLst>
              <a:gd name="adj" fmla="val 8685"/>
            </a:avLst>
          </a:prstGeom>
          <a:solidFill>
            <a:schemeClr val="accent6">
              <a:lumMod val="75000"/>
              <a:alpha val="1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4224AD-79C6-4C17-6C3C-FFB7C73726EC}"/>
              </a:ext>
            </a:extLst>
          </p:cNvPr>
          <p:cNvSpPr/>
          <p:nvPr/>
        </p:nvSpPr>
        <p:spPr>
          <a:xfrm>
            <a:off x="7519131" y="5486400"/>
            <a:ext cx="1138066" cy="960450"/>
          </a:xfrm>
          <a:prstGeom prst="roundRect">
            <a:avLst>
              <a:gd name="adj" fmla="val 8685"/>
            </a:avLst>
          </a:prstGeom>
          <a:solidFill>
            <a:schemeClr val="accent4">
              <a:alpha val="1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61DCB1-203C-B0BF-7AEE-D7BFF918D9D9}"/>
              </a:ext>
            </a:extLst>
          </p:cNvPr>
          <p:cNvSpPr/>
          <p:nvPr/>
        </p:nvSpPr>
        <p:spPr>
          <a:xfrm>
            <a:off x="4826185" y="2470618"/>
            <a:ext cx="1173331" cy="1068569"/>
          </a:xfrm>
          <a:prstGeom prst="roundRect">
            <a:avLst>
              <a:gd name="adj" fmla="val 8685"/>
            </a:avLst>
          </a:prstGeom>
          <a:solidFill>
            <a:schemeClr val="accent1">
              <a:alpha val="1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5B38A4-296E-8373-F58E-AB00AE5194D1}"/>
              </a:ext>
            </a:extLst>
          </p:cNvPr>
          <p:cNvSpPr/>
          <p:nvPr/>
        </p:nvSpPr>
        <p:spPr>
          <a:xfrm>
            <a:off x="1545928" y="2164298"/>
            <a:ext cx="3197111" cy="1934055"/>
          </a:xfrm>
          <a:prstGeom prst="roundRect">
            <a:avLst>
              <a:gd name="adj" fmla="val 8667"/>
            </a:avLst>
          </a:prstGeom>
          <a:solidFill>
            <a:srgbClr val="FF0000">
              <a:alpha val="10000"/>
            </a:srgb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26453A-E08F-018B-3D97-07EBBA1C82E6}"/>
              </a:ext>
            </a:extLst>
          </p:cNvPr>
          <p:cNvSpPr/>
          <p:nvPr/>
        </p:nvSpPr>
        <p:spPr>
          <a:xfrm>
            <a:off x="1920898" y="4098353"/>
            <a:ext cx="2246251" cy="1861693"/>
          </a:xfrm>
          <a:prstGeom prst="roundRect">
            <a:avLst>
              <a:gd name="adj" fmla="val 8685"/>
            </a:avLst>
          </a:prstGeom>
          <a:solidFill>
            <a:schemeClr val="accent4">
              <a:alpha val="1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7B0494-EF7E-46D4-CD49-DD3D74D15630}"/>
              </a:ext>
            </a:extLst>
          </p:cNvPr>
          <p:cNvSpPr/>
          <p:nvPr/>
        </p:nvSpPr>
        <p:spPr>
          <a:xfrm>
            <a:off x="6382938" y="2361652"/>
            <a:ext cx="2215053" cy="1381980"/>
          </a:xfrm>
          <a:prstGeom prst="roundRect">
            <a:avLst>
              <a:gd name="adj" fmla="val 7067"/>
            </a:avLst>
          </a:prstGeom>
          <a:solidFill>
            <a:schemeClr val="accent6">
              <a:alpha val="1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47F036-8103-FE2C-0606-CD7AA600F2D5}"/>
              </a:ext>
            </a:extLst>
          </p:cNvPr>
          <p:cNvSpPr/>
          <p:nvPr/>
        </p:nvSpPr>
        <p:spPr>
          <a:xfrm>
            <a:off x="6492898" y="3743633"/>
            <a:ext cx="1381468" cy="783065"/>
          </a:xfrm>
          <a:prstGeom prst="roundRect">
            <a:avLst>
              <a:gd name="adj" fmla="val 7539"/>
            </a:avLst>
          </a:prstGeom>
          <a:solidFill>
            <a:srgbClr val="002060">
              <a:alpha val="10000"/>
            </a:srgb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6713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37D1AD-0475-8FBD-DC7F-DEE5856F4909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783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Gauge PCB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A39D8-DD18-63C5-D7CD-B0C382C94AD6}"/>
              </a:ext>
            </a:extLst>
          </p:cNvPr>
          <p:cNvSpPr txBox="1"/>
          <p:nvPr/>
        </p:nvSpPr>
        <p:spPr>
          <a:xfrm>
            <a:off x="539431" y="1591976"/>
            <a:ext cx="434175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Header pin dedicated for each stage of SoC measurement.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Placed header pins on the perimeter for proper routing.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 and Power pins are separated.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width = 12mil, Drill = 12mil, Dia = 6mil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sense trace width = 110mil to handle currents upto 5A 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routing to accommodate thicker trace.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routing of few vias to avoid short circuit while soldering.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routing of few traces to split 90 degree junctions into 120 degree junctions.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ERC and DRC warnings &amp; errors and resolved them (no input pin, stubs and airwires).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 dimensions: 52.12mm x 45.33mm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7DCC7A-6899-0C1B-5321-0DED271A0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518" y="1199901"/>
            <a:ext cx="6199062" cy="534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882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47456-C37E-B54B-2A0E-D149EBAF2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520955F-CB45-E5A1-DD9F-F1A0CA0FB664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783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Gauge PCB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1DD74-9DD5-13DF-D9E3-EAE56E242452}"/>
              </a:ext>
            </a:extLst>
          </p:cNvPr>
          <p:cNvSpPr txBox="1"/>
          <p:nvPr/>
        </p:nvSpPr>
        <p:spPr>
          <a:xfrm>
            <a:off x="526273" y="1670918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CB1207-9FF5-8DE5-B7A3-29AD90EB7865}"/>
              </a:ext>
            </a:extLst>
          </p:cNvPr>
          <p:cNvSpPr txBox="1"/>
          <p:nvPr/>
        </p:nvSpPr>
        <p:spPr>
          <a:xfrm>
            <a:off x="2576116" y="6300866"/>
            <a:ext cx="107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Top Layer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838CD-625D-87F9-15D4-5DC0A4C7E5E4}"/>
              </a:ext>
            </a:extLst>
          </p:cNvPr>
          <p:cNvSpPr txBox="1"/>
          <p:nvPr/>
        </p:nvSpPr>
        <p:spPr>
          <a:xfrm>
            <a:off x="8542387" y="6300866"/>
            <a:ext cx="144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Bottom Layer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9912D3-A9D6-81FC-59E8-4F71BDF69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99" y="1173809"/>
            <a:ext cx="5858944" cy="50212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1511D4-F2B4-E56E-23C5-78122C2C8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723" y="1171529"/>
            <a:ext cx="5813278" cy="502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6143-9945-447E-E158-B0933B53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1CBD29D-0F1A-4707-5344-92837FC10B17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783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Fuel Gauge PCB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5F3B0-28D7-D4B5-1E21-CE80D4D45BFC}"/>
              </a:ext>
            </a:extLst>
          </p:cNvPr>
          <p:cNvSpPr txBox="1"/>
          <p:nvPr/>
        </p:nvSpPr>
        <p:spPr>
          <a:xfrm>
            <a:off x="657843" y="2644170"/>
            <a:ext cx="434175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PCB to be more compact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board dimensions from 52.12mm x 45.33mm to 39.42 mm x 32.63mm.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46% reduction in board area.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Power rail trace width from 12mil to 20mil for better signal integrity.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0423D-2188-A828-23C0-C0C2B0866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659" y="1265222"/>
            <a:ext cx="6132818" cy="505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79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B1B21-F914-4DC9-0CB5-C73ACE81D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61667C-9A94-4556-C54F-4019C8B964A6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783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Gauge PCB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1480E1-74AF-031E-8FC1-DE3217C61E67}"/>
              </a:ext>
            </a:extLst>
          </p:cNvPr>
          <p:cNvSpPr txBox="1"/>
          <p:nvPr/>
        </p:nvSpPr>
        <p:spPr>
          <a:xfrm>
            <a:off x="526273" y="1670918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910194-78B1-B8D6-DDA9-36D2470A6C30}"/>
              </a:ext>
            </a:extLst>
          </p:cNvPr>
          <p:cNvSpPr txBox="1"/>
          <p:nvPr/>
        </p:nvSpPr>
        <p:spPr>
          <a:xfrm>
            <a:off x="2576116" y="6300866"/>
            <a:ext cx="107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Top Layer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2F699C-AC08-C32A-38DA-FF7B2FFEC876}"/>
              </a:ext>
            </a:extLst>
          </p:cNvPr>
          <p:cNvSpPr txBox="1"/>
          <p:nvPr/>
        </p:nvSpPr>
        <p:spPr>
          <a:xfrm>
            <a:off x="8542387" y="6300866"/>
            <a:ext cx="144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Bottom Layer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117207-4386-D2CC-5450-20608C845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03" y="1256134"/>
            <a:ext cx="5929773" cy="48806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8696CA-8F42-FFD2-D3FF-1B9C068C6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026" y="1256134"/>
            <a:ext cx="6000661" cy="488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200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AA5A-8DC9-AF4E-596C-9104F7C72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78018F5-FC55-E9A8-029C-5DD65C596C3D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783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Gauge Circuit Breadboard Testing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E02B3A-EF1C-E91D-554E-898710FE9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77" y="1657761"/>
            <a:ext cx="5744523" cy="43083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9DBEB3-D801-0E6B-91AE-BCA390DCF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100" y="1657762"/>
            <a:ext cx="5744522" cy="430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664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AA649-1F2A-05BC-374A-FE33C190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B4A176A-5912-E15A-53D5-64315CF44D60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783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Gauge Breadboard Testing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E3971E-F54E-E3DE-8D1D-D662425BDD9C}"/>
              </a:ext>
            </a:extLst>
          </p:cNvPr>
          <p:cNvSpPr txBox="1"/>
          <p:nvPr/>
        </p:nvSpPr>
        <p:spPr>
          <a:xfrm>
            <a:off x="421018" y="2551837"/>
            <a:ext cx="55828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fuel gauge circuit, we need to measure voltage across sense resistor (1 ohm) to determine current.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limitations of breadboard, we wouldn’t use sense resistor.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divider was used to “simulate” higher values of current.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84C19C-FE02-9EA6-4A7D-D09CE10D7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398" y="1282791"/>
            <a:ext cx="3845770" cy="512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400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0D12-E5BE-DC9B-B958-CA9EF95C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F14202-EE89-A195-757A-F95B7175F561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783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Gauge Breadboard Testing Result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BAC449-3810-18E9-E4AC-AFF051364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291597"/>
              </p:ext>
            </p:extLst>
          </p:nvPr>
        </p:nvGraphicFramePr>
        <p:xfrm>
          <a:off x="659485" y="1932380"/>
          <a:ext cx="4432210" cy="2586994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259954">
                  <a:extLst>
                    <a:ext uri="{9D8B030D-6E8A-4147-A177-3AD203B41FA5}">
                      <a16:colId xmlns:a16="http://schemas.microsoft.com/office/drawing/2014/main" val="3298804600"/>
                    </a:ext>
                  </a:extLst>
                </a:gridCol>
                <a:gridCol w="1167356">
                  <a:extLst>
                    <a:ext uri="{9D8B030D-6E8A-4147-A177-3AD203B41FA5}">
                      <a16:colId xmlns:a16="http://schemas.microsoft.com/office/drawing/2014/main" val="4021927827"/>
                    </a:ext>
                  </a:extLst>
                </a:gridCol>
                <a:gridCol w="1002450">
                  <a:extLst>
                    <a:ext uri="{9D8B030D-6E8A-4147-A177-3AD203B41FA5}">
                      <a16:colId xmlns:a16="http://schemas.microsoft.com/office/drawing/2014/main" val="3025638793"/>
                    </a:ext>
                  </a:extLst>
                </a:gridCol>
                <a:gridCol w="1002450">
                  <a:extLst>
                    <a:ext uri="{9D8B030D-6E8A-4147-A177-3AD203B41FA5}">
                      <a16:colId xmlns:a16="http://schemas.microsoft.com/office/drawing/2014/main" val="2642800365"/>
                    </a:ext>
                  </a:extLst>
                </a:gridCol>
              </a:tblGrid>
              <a:tr h="8623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100" dirty="0">
                          <a:effectLst/>
                        </a:rPr>
                        <a:t>Time (minutes)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Output (volts)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 dirty="0">
                          <a:effectLst/>
                        </a:rPr>
                        <a:t>Expected Output (Volts)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% Relative Error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397841"/>
                  </a:ext>
                </a:extLst>
              </a:tr>
              <a:tr h="43116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 dirty="0">
                          <a:effectLst/>
                        </a:rPr>
                        <a:t>2.55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2.5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457710"/>
                  </a:ext>
                </a:extLst>
              </a:tr>
              <a:tr h="43116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2.88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2.78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3.59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0390077"/>
                  </a:ext>
                </a:extLst>
              </a:tr>
              <a:tr h="43116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3.21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 dirty="0">
                          <a:effectLst/>
                        </a:rPr>
                        <a:t>3.06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4.9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4721832"/>
                  </a:ext>
                </a:extLst>
              </a:tr>
              <a:tr h="43116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3.85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>
                          <a:effectLst/>
                        </a:rPr>
                        <a:t>3.63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 dirty="0">
                          <a:effectLst/>
                        </a:rPr>
                        <a:t>5.24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139047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A111318-74D1-1219-003F-41713CC5C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43" y="4859205"/>
            <a:ext cx="4750246" cy="11063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DAB25E-EB4B-66AF-A6A8-B90E9EFAC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278" y="1881428"/>
            <a:ext cx="5744522" cy="430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049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D943B1-23D6-96AE-FD80-6DA596D04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D93CDA-E750-FBAB-9E60-ACD8DD676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9" y="335113"/>
            <a:ext cx="9194077" cy="556138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716F15-21C0-4F0C-BFFB-3C97360C4BD9}"/>
              </a:ext>
            </a:extLst>
          </p:cNvPr>
          <p:cNvCxnSpPr>
            <a:cxnSpLocks/>
          </p:cNvCxnSpPr>
          <p:nvPr/>
        </p:nvCxnSpPr>
        <p:spPr>
          <a:xfrm flipH="1">
            <a:off x="8776355" y="1706252"/>
            <a:ext cx="631596" cy="0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F29A7B-855D-FEBB-AC7F-AEA1DC2FF2F1}"/>
              </a:ext>
            </a:extLst>
          </p:cNvPr>
          <p:cNvCxnSpPr/>
          <p:nvPr/>
        </p:nvCxnSpPr>
        <p:spPr>
          <a:xfrm flipH="1">
            <a:off x="8759073" y="3571717"/>
            <a:ext cx="1055802" cy="0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558112-06E2-4678-C0C3-E3EE60731EF1}"/>
              </a:ext>
            </a:extLst>
          </p:cNvPr>
          <p:cNvCxnSpPr>
            <a:cxnSpLocks/>
          </p:cNvCxnSpPr>
          <p:nvPr/>
        </p:nvCxnSpPr>
        <p:spPr>
          <a:xfrm flipH="1">
            <a:off x="8788925" y="2897172"/>
            <a:ext cx="498049" cy="0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2B8855-B7F3-E900-94F0-14A955179013}"/>
              </a:ext>
            </a:extLst>
          </p:cNvPr>
          <p:cNvCxnSpPr/>
          <p:nvPr/>
        </p:nvCxnSpPr>
        <p:spPr>
          <a:xfrm flipH="1">
            <a:off x="8759073" y="4454166"/>
            <a:ext cx="1055802" cy="0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382F00-AEE6-047B-818A-89CCCC443290}"/>
              </a:ext>
            </a:extLst>
          </p:cNvPr>
          <p:cNvCxnSpPr/>
          <p:nvPr/>
        </p:nvCxnSpPr>
        <p:spPr>
          <a:xfrm flipH="1">
            <a:off x="8759073" y="5011919"/>
            <a:ext cx="1055802" cy="0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5D2EF1-0F4F-BF2E-0E7C-8FDB4D56D811}"/>
              </a:ext>
            </a:extLst>
          </p:cNvPr>
          <p:cNvSpPr txBox="1"/>
          <p:nvPr/>
        </p:nvSpPr>
        <p:spPr>
          <a:xfrm>
            <a:off x="9407951" y="1367454"/>
            <a:ext cx="2620410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Switches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216B2E-6F2E-5AFC-BB6F-EA102DD90CAD}"/>
              </a:ext>
            </a:extLst>
          </p:cNvPr>
          <p:cNvSpPr txBox="1"/>
          <p:nvPr/>
        </p:nvSpPr>
        <p:spPr>
          <a:xfrm>
            <a:off x="8948622" y="2536880"/>
            <a:ext cx="3380687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Capacitors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1EE54C-41EA-B0A1-F7CF-9A63BF82D732}"/>
              </a:ext>
            </a:extLst>
          </p:cNvPr>
          <p:cNvSpPr txBox="1"/>
          <p:nvPr/>
        </p:nvSpPr>
        <p:spPr>
          <a:xfrm>
            <a:off x="9529798" y="3314618"/>
            <a:ext cx="2615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Switches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513C8E-8643-23E3-02EE-316FCEE976CD}"/>
              </a:ext>
            </a:extLst>
          </p:cNvPr>
          <p:cNvSpPr txBox="1"/>
          <p:nvPr/>
        </p:nvSpPr>
        <p:spPr>
          <a:xfrm>
            <a:off x="9216075" y="4088092"/>
            <a:ext cx="3380687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Capacitors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88797C-BD98-C1E0-9F95-3F9E058D6C33}"/>
              </a:ext>
            </a:extLst>
          </p:cNvPr>
          <p:cNvSpPr txBox="1"/>
          <p:nvPr/>
        </p:nvSpPr>
        <p:spPr>
          <a:xfrm>
            <a:off x="9216074" y="4646278"/>
            <a:ext cx="1813287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700B2-C8DD-DE47-B677-621732545A02}"/>
              </a:ext>
            </a:extLst>
          </p:cNvPr>
          <p:cNvSpPr txBox="1"/>
          <p:nvPr/>
        </p:nvSpPr>
        <p:spPr>
          <a:xfrm>
            <a:off x="4064816" y="42725"/>
            <a:ext cx="40623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Cell-Balancing Circuit 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156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567A19-2CEF-EA58-80BC-F6E7ED16A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120C4B20-C836-74BC-8676-E07CA64AF14D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MOSFET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B67E4-BBF0-A332-13C1-ECB29B8BAD1D}"/>
              </a:ext>
            </a:extLst>
          </p:cNvPr>
          <p:cNvSpPr txBox="1">
            <a:spLocks/>
          </p:cNvSpPr>
          <p:nvPr/>
        </p:nvSpPr>
        <p:spPr>
          <a:xfrm>
            <a:off x="1016957" y="1334279"/>
            <a:ext cx="10158085" cy="4229774"/>
          </a:xfrm>
          <a:prstGeom prst="rect">
            <a:avLst/>
          </a:prstGeom>
        </p:spPr>
        <p:txBody>
          <a:bodyPr numCol="3" spcCol="144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43EC272-82AD-643C-30B1-AF9FD050CA4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9031" y="1234652"/>
              <a:ext cx="11653936" cy="4329402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2358070">
                      <a:extLst>
                        <a:ext uri="{9D8B030D-6E8A-4147-A177-3AD203B41FA5}">
                          <a16:colId xmlns:a16="http://schemas.microsoft.com/office/drawing/2014/main" val="4102260970"/>
                        </a:ext>
                      </a:extLst>
                    </a:gridCol>
                    <a:gridCol w="1526574">
                      <a:extLst>
                        <a:ext uri="{9D8B030D-6E8A-4147-A177-3AD203B41FA5}">
                          <a16:colId xmlns:a16="http://schemas.microsoft.com/office/drawing/2014/main" val="1385174597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01019967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238276963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3220985376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274024014"/>
                        </a:ext>
                      </a:extLst>
                    </a:gridCol>
                  </a:tblGrid>
                  <a:tr h="618486">
                    <a:tc>
                      <a:txBody>
                        <a:bodyPr/>
                        <a:lstStyle/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SL100N03D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CMD3090L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SL60N02D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SL90N03D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30N06-XBLW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301458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𝐺𝑆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𝑡h𝑟𝑒𝑠h𝑜𝑙𝑑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32392462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𝑠𝑤𝑖𝑡𝑐h𝑖𝑛𝑔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 (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3.59 MHz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27.77 MHz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5.98 MHz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9.25 MHz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4.23 MHz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2969498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𝐷𝑆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(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5486957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 (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 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 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 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 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2063984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𝐷𝑆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𝑜𝑛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@</m:t>
                                </m:r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𝐺𝑆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=4.5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5.3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5.0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5.2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7.2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4423678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𝑐𝑜𝑠𝑡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𝑝𝑒𝑟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𝑝𝑖𝑒𝑐𝑒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375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691727E-CBA4-DF56-813E-E28194570D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1122801"/>
                  </p:ext>
                </p:extLst>
              </p:nvPr>
            </p:nvGraphicFramePr>
            <p:xfrm>
              <a:off x="269031" y="1234652"/>
              <a:ext cx="11653936" cy="4329402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2358070">
                      <a:extLst>
                        <a:ext uri="{9D8B030D-6E8A-4147-A177-3AD203B41FA5}">
                          <a16:colId xmlns:a16="http://schemas.microsoft.com/office/drawing/2014/main" val="4102260970"/>
                        </a:ext>
                      </a:extLst>
                    </a:gridCol>
                    <a:gridCol w="1526574">
                      <a:extLst>
                        <a:ext uri="{9D8B030D-6E8A-4147-A177-3AD203B41FA5}">
                          <a16:colId xmlns:a16="http://schemas.microsoft.com/office/drawing/2014/main" val="1385174597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01019967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238276963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3220985376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274024014"/>
                        </a:ext>
                      </a:extLst>
                    </a:gridCol>
                  </a:tblGrid>
                  <a:tr h="618486">
                    <a:tc>
                      <a:txBody>
                        <a:bodyPr/>
                        <a:lstStyle/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SL100N03D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CMD3090L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SL60N02D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SL90N03D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30N06-XBLW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301458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101980" r="-394832" b="-5049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32392462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200000" r="-39483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3.59 MHz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27.77 MHz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5.98 MHz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9.25 MHz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4.23 MHz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2969498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302970" r="-394832" b="-3039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5486957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399020" r="-394832" b="-200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 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 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 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 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2063984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503960" r="-394832" b="-10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5.3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5.0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5.2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7.2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4423678"/>
                      </a:ext>
                    </a:extLst>
                  </a:tr>
                  <a:tr h="6184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598039" r="-394832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3754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FAA81DE-A5E4-9BEE-5D07-27082E134478}"/>
              </a:ext>
            </a:extLst>
          </p:cNvPr>
          <p:cNvSpPr/>
          <p:nvPr/>
        </p:nvSpPr>
        <p:spPr>
          <a:xfrm>
            <a:off x="4152122" y="1234652"/>
            <a:ext cx="1943878" cy="4329401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061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FF955B-72B4-0DDF-E1E5-21F9489C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48B19ADC-496E-5351-9A99-500BDF0903F6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P-AMP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62930-7445-39EB-D65A-2BCA28150C3D}"/>
              </a:ext>
            </a:extLst>
          </p:cNvPr>
          <p:cNvSpPr txBox="1">
            <a:spLocks/>
          </p:cNvSpPr>
          <p:nvPr/>
        </p:nvSpPr>
        <p:spPr>
          <a:xfrm>
            <a:off x="1016957" y="1334279"/>
            <a:ext cx="10158085" cy="4229774"/>
          </a:xfrm>
          <a:prstGeom prst="rect">
            <a:avLst/>
          </a:prstGeom>
        </p:spPr>
        <p:txBody>
          <a:bodyPr numCol="3" spcCol="144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3F4D8DF-A9AE-EE6A-B71F-824FBCBE4CE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9031" y="1234652"/>
              <a:ext cx="11653936" cy="4329400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2358070">
                      <a:extLst>
                        <a:ext uri="{9D8B030D-6E8A-4147-A177-3AD203B41FA5}">
                          <a16:colId xmlns:a16="http://schemas.microsoft.com/office/drawing/2014/main" val="4102260970"/>
                        </a:ext>
                      </a:extLst>
                    </a:gridCol>
                    <a:gridCol w="1526574">
                      <a:extLst>
                        <a:ext uri="{9D8B030D-6E8A-4147-A177-3AD203B41FA5}">
                          <a16:colId xmlns:a16="http://schemas.microsoft.com/office/drawing/2014/main" val="1385174597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01019967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238276963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3220985376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274024014"/>
                        </a:ext>
                      </a:extLst>
                    </a:gridCol>
                  </a:tblGrid>
                  <a:tr h="541175">
                    <a:tc>
                      <a:txBody>
                        <a:bodyPr/>
                        <a:lstStyle/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LM741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LM358N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LF353-N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TL074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NE5532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301458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𝑠𝑢𝑝𝑝𝑙𝑦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 22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V</m:t>
                                </m:r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32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18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32392462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𝑉𝑜𝑙𝑡𝑎𝑔𝑒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𝐺𝑎𝑖𝑛</m:t>
                                </m:r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5486957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𝑖𝑛𝑝𝑢𝑡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10^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10^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0.3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2063984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𝑆𝑙𝑒𝑤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𝑅𝑎𝑡𝑒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0.7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0.9 V/us 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4423678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𝑜𝑝𝑒𝑟𝑎𝑡𝑖𝑛𝑔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–50 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to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 125 °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70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150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70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-65 to 150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6435601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𝑜𝑝𝑎𝑚𝑝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𝑐𝑜𝑢𝑛𝑡</m:t>
                                </m:r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2935633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𝑐𝑜𝑠𝑡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𝑝𝑒𝑟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𝑝𝑖𝑒𝑐𝑒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26.55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375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A7D42DE-BE18-470C-6739-A712A3ADD3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7434835"/>
                  </p:ext>
                </p:extLst>
              </p:nvPr>
            </p:nvGraphicFramePr>
            <p:xfrm>
              <a:off x="269031" y="1234652"/>
              <a:ext cx="11653936" cy="4329400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2358070">
                      <a:extLst>
                        <a:ext uri="{9D8B030D-6E8A-4147-A177-3AD203B41FA5}">
                          <a16:colId xmlns:a16="http://schemas.microsoft.com/office/drawing/2014/main" val="4102260970"/>
                        </a:ext>
                      </a:extLst>
                    </a:gridCol>
                    <a:gridCol w="1526574">
                      <a:extLst>
                        <a:ext uri="{9D8B030D-6E8A-4147-A177-3AD203B41FA5}">
                          <a16:colId xmlns:a16="http://schemas.microsoft.com/office/drawing/2014/main" val="1385174597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01019967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2382769635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3220985376"/>
                        </a:ext>
                      </a:extLst>
                    </a:gridCol>
                    <a:gridCol w="1942323">
                      <a:extLst>
                        <a:ext uri="{9D8B030D-6E8A-4147-A177-3AD203B41FA5}">
                          <a16:colId xmlns:a16="http://schemas.microsoft.com/office/drawing/2014/main" val="4274024014"/>
                        </a:ext>
                      </a:extLst>
                    </a:gridCol>
                  </a:tblGrid>
                  <a:tr h="541175">
                    <a:tc>
                      <a:txBody>
                        <a:bodyPr/>
                        <a:lstStyle/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LM741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LM358N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LF353-N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TL074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NE5532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301458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101124" r="-394832" b="-6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5200" t="-101124" r="-511200" b="-6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32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18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± 15 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32392462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201124" r="-394832" b="-5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100 V/mV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5486957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301124" r="-394832" b="-4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10^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10^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0.3 M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2063984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405682" r="-394832" b="-305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0.7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0.9 V/us 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 V/us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4423678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500000" r="-394832" b="-2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5200" t="-500000" r="-511200" b="-2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70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150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 to 70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-65 to 150 °C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6435601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600000" r="-394832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2935633"/>
                      </a:ext>
                    </a:extLst>
                  </a:tr>
                  <a:tr h="5411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" t="-700000" r="-394832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26.55 Rs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3754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FA2752F-5FF2-99AC-165F-E9D4332CFFC6}"/>
              </a:ext>
            </a:extLst>
          </p:cNvPr>
          <p:cNvSpPr/>
          <p:nvPr/>
        </p:nvSpPr>
        <p:spPr>
          <a:xfrm>
            <a:off x="8014995" y="1234651"/>
            <a:ext cx="1943878" cy="4329401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439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24368C-5F29-1D80-A5B0-1F32B75E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E12D5755-2694-76BE-FBB9-59596FD80768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77274-A741-FF60-CC78-207829AE52C4}"/>
              </a:ext>
            </a:extLst>
          </p:cNvPr>
          <p:cNvSpPr txBox="1">
            <a:spLocks/>
          </p:cNvSpPr>
          <p:nvPr/>
        </p:nvSpPr>
        <p:spPr>
          <a:xfrm>
            <a:off x="1016957" y="1334279"/>
            <a:ext cx="10158085" cy="4229774"/>
          </a:xfrm>
          <a:prstGeom prst="rect">
            <a:avLst/>
          </a:prstGeom>
        </p:spPr>
        <p:txBody>
          <a:bodyPr numCol="3" spcCol="144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F5B0FB-409F-2819-86BA-9C0F43C98566}"/>
              </a:ext>
            </a:extLst>
          </p:cNvPr>
          <p:cNvGraphicFramePr>
            <a:graphicFrameLocks noGrp="1"/>
          </p:cNvGraphicFramePr>
          <p:nvPr/>
        </p:nvGraphicFramePr>
        <p:xfrm>
          <a:off x="277584" y="1293947"/>
          <a:ext cx="11636829" cy="4474031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444620">
                  <a:extLst>
                    <a:ext uri="{9D8B030D-6E8A-4147-A177-3AD203B41FA5}">
                      <a16:colId xmlns:a16="http://schemas.microsoft.com/office/drawing/2014/main" val="4102260970"/>
                    </a:ext>
                  </a:extLst>
                </a:gridCol>
                <a:gridCol w="2210111">
                  <a:extLst>
                    <a:ext uri="{9D8B030D-6E8A-4147-A177-3AD203B41FA5}">
                      <a16:colId xmlns:a16="http://schemas.microsoft.com/office/drawing/2014/main" val="1385174597"/>
                    </a:ext>
                  </a:extLst>
                </a:gridCol>
                <a:gridCol w="2448199">
                  <a:extLst>
                    <a:ext uri="{9D8B030D-6E8A-4147-A177-3AD203B41FA5}">
                      <a16:colId xmlns:a16="http://schemas.microsoft.com/office/drawing/2014/main" val="4010199675"/>
                    </a:ext>
                  </a:extLst>
                </a:gridCol>
                <a:gridCol w="2472613">
                  <a:extLst>
                    <a:ext uri="{9D8B030D-6E8A-4147-A177-3AD203B41FA5}">
                      <a16:colId xmlns:a16="http://schemas.microsoft.com/office/drawing/2014/main" val="2382769635"/>
                    </a:ext>
                  </a:extLst>
                </a:gridCol>
                <a:gridCol w="2061286">
                  <a:extLst>
                    <a:ext uri="{9D8B030D-6E8A-4147-A177-3AD203B41FA5}">
                      <a16:colId xmlns:a16="http://schemas.microsoft.com/office/drawing/2014/main" val="3220985376"/>
                    </a:ext>
                  </a:extLst>
                </a:gridCol>
              </a:tblGrid>
              <a:tr h="50914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ADS1115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ADS1015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MCP3008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MCP3424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92301458"/>
                  </a:ext>
                </a:extLst>
              </a:tr>
              <a:tr h="101656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ADC Architecture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Sigma-Delta</a:t>
                      </a:r>
                      <a:r>
                        <a:rPr lang="en-IN" b="0" baseline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l-G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ΣΔ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IN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Successive Approximation Register (SAR)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Successive Approximation Register (SAR)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Sigma-Delta</a:t>
                      </a:r>
                      <a:r>
                        <a:rPr lang="en-IN" b="0" baseline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l-G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ΣΔ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IN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632392462"/>
                  </a:ext>
                </a:extLst>
              </a:tr>
              <a:tr h="50914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Resolution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bits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bits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bits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 bits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05486957"/>
                  </a:ext>
                </a:extLst>
              </a:tr>
              <a:tr h="42630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PGA (Internal Amplifier)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(Integrated)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(Integrated)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902063984"/>
                  </a:ext>
                </a:extLst>
              </a:tr>
              <a:tr h="42630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Sample Rate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860 SPS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3300 SPS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 </a:t>
                      </a:r>
                      <a:r>
                        <a:rPr lang="en-IN" b="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kSPS</a:t>
                      </a:r>
                      <a:endParaRPr lang="en-IN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 SPS 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034423678"/>
                  </a:ext>
                </a:extLst>
              </a:tr>
              <a:tr h="67115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Consumption</a:t>
                      </a:r>
                      <a:endParaRPr lang="en-IN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t-IT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Ultra-Low (150 µA)</a:t>
                      </a:r>
                      <a:endParaRPr lang="en-US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US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Ultra-Low (140 µA)</a:t>
                      </a:r>
                      <a:endParaRPr lang="en-US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136435601"/>
                  </a:ext>
                </a:extLst>
              </a:tr>
              <a:tr h="67115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Channels</a:t>
                      </a:r>
                      <a:endParaRPr lang="en-IN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02167210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EC19B9B-2E9B-016B-2074-2454DC8748AE}"/>
              </a:ext>
            </a:extLst>
          </p:cNvPr>
          <p:cNvSpPr/>
          <p:nvPr/>
        </p:nvSpPr>
        <p:spPr>
          <a:xfrm>
            <a:off x="2724539" y="1293947"/>
            <a:ext cx="2211355" cy="4229774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44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3EFD75-3E3A-B9A7-657D-F11DFAE9A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069D7FBA-069E-17B9-1234-1312184FE699}"/>
              </a:ext>
            </a:extLst>
          </p:cNvPr>
          <p:cNvSpPr txBox="1">
            <a:spLocks/>
          </p:cNvSpPr>
          <p:nvPr/>
        </p:nvSpPr>
        <p:spPr>
          <a:xfrm>
            <a:off x="838200" y="308951"/>
            <a:ext cx="1051560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Multiplexer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1865D-D946-CDCF-538D-ED527BC20758}"/>
              </a:ext>
            </a:extLst>
          </p:cNvPr>
          <p:cNvSpPr txBox="1">
            <a:spLocks/>
          </p:cNvSpPr>
          <p:nvPr/>
        </p:nvSpPr>
        <p:spPr>
          <a:xfrm>
            <a:off x="1016957" y="1334279"/>
            <a:ext cx="10158085" cy="4229774"/>
          </a:xfrm>
          <a:prstGeom prst="rect">
            <a:avLst/>
          </a:prstGeom>
        </p:spPr>
        <p:txBody>
          <a:bodyPr numCol="3" spcCol="144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9116ECA-3E7C-3976-0637-6148E5F8F23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8987" y="1256623"/>
              <a:ext cx="11554024" cy="4528360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3004071">
                      <a:extLst>
                        <a:ext uri="{9D8B030D-6E8A-4147-A177-3AD203B41FA5}">
                          <a16:colId xmlns:a16="http://schemas.microsoft.com/office/drawing/2014/main" val="4102260970"/>
                        </a:ext>
                      </a:extLst>
                    </a:gridCol>
                    <a:gridCol w="3008471">
                      <a:extLst>
                        <a:ext uri="{9D8B030D-6E8A-4147-A177-3AD203B41FA5}">
                          <a16:colId xmlns:a16="http://schemas.microsoft.com/office/drawing/2014/main" val="3649113003"/>
                        </a:ext>
                      </a:extLst>
                    </a:gridCol>
                    <a:gridCol w="3008471">
                      <a:extLst>
                        <a:ext uri="{9D8B030D-6E8A-4147-A177-3AD203B41FA5}">
                          <a16:colId xmlns:a16="http://schemas.microsoft.com/office/drawing/2014/main" val="4010199675"/>
                        </a:ext>
                      </a:extLst>
                    </a:gridCol>
                    <a:gridCol w="2533011">
                      <a:extLst>
                        <a:ext uri="{9D8B030D-6E8A-4147-A177-3AD203B41FA5}">
                          <a16:colId xmlns:a16="http://schemas.microsoft.com/office/drawing/2014/main" val="3220985376"/>
                        </a:ext>
                      </a:extLst>
                    </a:gridCol>
                  </a:tblGrid>
                  <a:tr h="48060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CD74HC4051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CD74HC4067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ADG412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92301458"/>
                      </a:ext>
                    </a:extLst>
                  </a:tr>
                  <a:tr h="48060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Configuration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Single 8:1 MUX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Single 16:1 MUX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Quad SPST Switch</a:t>
                          </a: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3578921060"/>
                      </a:ext>
                    </a:extLst>
                  </a:tr>
                  <a:tr h="959565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Select Inputs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 Select + 1 Enable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Select + 1 Enable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Independent Select</a:t>
                          </a: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3632392462"/>
                      </a:ext>
                    </a:extLst>
                  </a:tr>
                  <a:tr h="63295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Analog Channels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 Channels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 Channels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Individual Switches </a:t>
                          </a:r>
                        </a:p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(1:1 each)</a:t>
                          </a: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405486957"/>
                      </a:ext>
                    </a:extLst>
                  </a:tr>
                  <a:tr h="63295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On-Resistance :</a:t>
                          </a:r>
                          <a:r>
                            <a:rPr lang="en-IN" b="1" baseline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1" i="1" dirty="0" smtClean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 dirty="0" smtClean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𝒐𝒏</m:t>
                                  </m:r>
                                  <m:r>
                                    <a:rPr lang="en-US" b="1" i="1" dirty="0" smtClean="0">
                                      <a:solidFill>
                                        <a:srgbClr val="1F1F1F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</m:oMath>
                          </a14:m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 (70 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@4.5V)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 (70 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@4.5V)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Very Low (&lt; 5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4034423678"/>
                      </a:ext>
                    </a:extLst>
                  </a:tr>
                  <a:tr h="633517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Crosstalk / Isolation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Good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Good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Excellent (High-performance switch)</a:t>
                          </a: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1136435601"/>
                      </a:ext>
                    </a:extLst>
                  </a:tr>
                  <a:tr h="633517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</a:t>
                          </a:r>
                          <a:endParaRPr lang="en-IN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 Rs</a:t>
                          </a:r>
                          <a:endParaRPr lang="en-IN" b="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 Rs</a:t>
                          </a:r>
                          <a:endParaRPr lang="en-IN" b="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112 Rs</a:t>
                          </a:r>
                          <a:endParaRPr lang="en-IN" b="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22928925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C334758-3A9B-0E92-4B9E-68F1596296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7603260"/>
                  </p:ext>
                </p:extLst>
              </p:nvPr>
            </p:nvGraphicFramePr>
            <p:xfrm>
              <a:off x="318987" y="1256623"/>
              <a:ext cx="11554024" cy="4528360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3004071">
                      <a:extLst>
                        <a:ext uri="{9D8B030D-6E8A-4147-A177-3AD203B41FA5}">
                          <a16:colId xmlns:a16="http://schemas.microsoft.com/office/drawing/2014/main" val="4102260970"/>
                        </a:ext>
                      </a:extLst>
                    </a:gridCol>
                    <a:gridCol w="3008471">
                      <a:extLst>
                        <a:ext uri="{9D8B030D-6E8A-4147-A177-3AD203B41FA5}">
                          <a16:colId xmlns:a16="http://schemas.microsoft.com/office/drawing/2014/main" val="3649113003"/>
                        </a:ext>
                      </a:extLst>
                    </a:gridCol>
                    <a:gridCol w="3008471">
                      <a:extLst>
                        <a:ext uri="{9D8B030D-6E8A-4147-A177-3AD203B41FA5}">
                          <a16:colId xmlns:a16="http://schemas.microsoft.com/office/drawing/2014/main" val="4010199675"/>
                        </a:ext>
                      </a:extLst>
                    </a:gridCol>
                    <a:gridCol w="2533011">
                      <a:extLst>
                        <a:ext uri="{9D8B030D-6E8A-4147-A177-3AD203B41FA5}">
                          <a16:colId xmlns:a16="http://schemas.microsoft.com/office/drawing/2014/main" val="3220985376"/>
                        </a:ext>
                      </a:extLst>
                    </a:gridCol>
                  </a:tblGrid>
                  <a:tr h="48060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CD74HC4051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CD74HC4067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ADG412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92301458"/>
                      </a:ext>
                    </a:extLst>
                  </a:tr>
                  <a:tr h="48060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Configuration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Single 8:1 MUX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Single 16:1 MUX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Quad SPST Switch</a:t>
                          </a: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3578921060"/>
                      </a:ext>
                    </a:extLst>
                  </a:tr>
                  <a:tr h="959565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Select Inputs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 Select + 1 Enable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Select + 1 Enable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Independent Select</a:t>
                          </a: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3632392462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Analog Channels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 Channels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 Channels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Individual Switches </a:t>
                          </a:r>
                        </a:p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(1:1 each)</a:t>
                          </a: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405486957"/>
                      </a:ext>
                    </a:extLst>
                  </a:tr>
                  <a:tr h="6329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blipFill>
                          <a:blip r:embed="rId2"/>
                          <a:stretch>
                            <a:fillRect l="-203" t="-409615" r="-285193" b="-2086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 (70 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@4.5V)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 (70 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@4.5V)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Very Low (&lt; 5</a:t>
                          </a:r>
                          <a:r>
                            <a:rPr lang="el-GR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</a:t>
                          </a: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4034423678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Crosstalk / Isolation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Good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Good</a:t>
                          </a: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IN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Excellent (High-performance switch)</a:t>
                          </a: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1136435601"/>
                      </a:ext>
                    </a:extLst>
                  </a:tr>
                  <a:tr h="633517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1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</a:t>
                          </a:r>
                          <a:endParaRPr lang="en-IN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 Rs</a:t>
                          </a:r>
                          <a:endParaRPr lang="en-IN" b="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 Rs</a:t>
                          </a:r>
                          <a:endParaRPr lang="en-IN" b="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b="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112 Rs</a:t>
                          </a:r>
                          <a:endParaRPr lang="en-IN" b="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22928925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5B31965-2A00-60AB-E903-0C395E657937}"/>
              </a:ext>
            </a:extLst>
          </p:cNvPr>
          <p:cNvSpPr/>
          <p:nvPr/>
        </p:nvSpPr>
        <p:spPr>
          <a:xfrm>
            <a:off x="6301275" y="1256623"/>
            <a:ext cx="3047997" cy="4528360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61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AAD7A-088B-66B0-861A-E67E67C5E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FA8E4326-7038-0F40-15E2-5A4B58B363C4}"/>
              </a:ext>
            </a:extLst>
          </p:cNvPr>
          <p:cNvSpPr txBox="1">
            <a:spLocks/>
          </p:cNvSpPr>
          <p:nvPr/>
        </p:nvSpPr>
        <p:spPr>
          <a:xfrm>
            <a:off x="838200" y="323094"/>
            <a:ext cx="1051560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4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ALANCING CIRCUIT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FD80BED-3098-F565-DD30-E75BF05CD2C9}"/>
              </a:ext>
            </a:extLst>
          </p:cNvPr>
          <p:cNvSpPr txBox="1">
            <a:spLocks/>
          </p:cNvSpPr>
          <p:nvPr/>
        </p:nvSpPr>
        <p:spPr>
          <a:xfrm>
            <a:off x="276396" y="1274303"/>
            <a:ext cx="4480352" cy="49269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Cell Testing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 Designed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Circuit for </a:t>
            </a: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CELLs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Testing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Regulated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5v, 3v3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Measuring 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nodal voltages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MOSFET </a:t>
            </a: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Jumper control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switch auto and manual mode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16D55D-FA89-416F-D2A5-0B6877C1CF7E}"/>
              </a:ext>
            </a:extLst>
          </p:cNvPr>
          <p:cNvSpPr txBox="1">
            <a:spLocks/>
          </p:cNvSpPr>
          <p:nvPr/>
        </p:nvSpPr>
        <p:spPr>
          <a:xfrm>
            <a:off x="7066440" y="1564473"/>
            <a:ext cx="4775200" cy="23618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B5EB05-D6B5-0E00-1315-6A11F45BF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1" y="1559821"/>
            <a:ext cx="7455367" cy="332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36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6FEC12-B9E9-9512-9173-6D4BC79CD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802"/>
            <a:ext cx="12192000" cy="635639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4FDD92-FE7E-0FF2-F3AD-1AA5C106F480}"/>
              </a:ext>
            </a:extLst>
          </p:cNvPr>
          <p:cNvSpPr/>
          <p:nvPr/>
        </p:nvSpPr>
        <p:spPr>
          <a:xfrm>
            <a:off x="894080" y="6048394"/>
            <a:ext cx="7325360" cy="728325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CELLS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ECB9F02-FF07-2379-D769-5776E26ABD1E}"/>
              </a:ext>
            </a:extLst>
          </p:cNvPr>
          <p:cNvSpPr/>
          <p:nvPr/>
        </p:nvSpPr>
        <p:spPr>
          <a:xfrm>
            <a:off x="6563360" y="3428998"/>
            <a:ext cx="2194560" cy="2189481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10D3AF-4B94-0477-0C0D-A0DE27E35D8D}"/>
              </a:ext>
            </a:extLst>
          </p:cNvPr>
          <p:cNvSpPr txBox="1"/>
          <p:nvPr/>
        </p:nvSpPr>
        <p:spPr>
          <a:xfrm>
            <a:off x="6695440" y="5149243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Switch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EAF93D-8D1A-9A6E-3AFC-7CAEA671B6BD}"/>
              </a:ext>
            </a:extLst>
          </p:cNvPr>
          <p:cNvSpPr txBox="1"/>
          <p:nvPr/>
        </p:nvSpPr>
        <p:spPr>
          <a:xfrm>
            <a:off x="1849120" y="5127980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Switch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AE8B7D-2506-189F-5A85-983E4DD5A78A}"/>
              </a:ext>
            </a:extLst>
          </p:cNvPr>
          <p:cNvSpPr/>
          <p:nvPr/>
        </p:nvSpPr>
        <p:spPr>
          <a:xfrm>
            <a:off x="1625600" y="634998"/>
            <a:ext cx="2092960" cy="2189481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0BEBE9-47F5-020E-F09C-5F794AE13D68}"/>
              </a:ext>
            </a:extLst>
          </p:cNvPr>
          <p:cNvSpPr txBox="1"/>
          <p:nvPr/>
        </p:nvSpPr>
        <p:spPr>
          <a:xfrm>
            <a:off x="1757680" y="2355243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Switch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284E92C-13B8-EAB7-0B81-474A49BF3C56}"/>
              </a:ext>
            </a:extLst>
          </p:cNvPr>
          <p:cNvSpPr/>
          <p:nvPr/>
        </p:nvSpPr>
        <p:spPr>
          <a:xfrm>
            <a:off x="6563360" y="634998"/>
            <a:ext cx="2194560" cy="2189481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689EFE-0418-39FD-8AB5-3D8EB6B92F3D}"/>
              </a:ext>
            </a:extLst>
          </p:cNvPr>
          <p:cNvSpPr txBox="1"/>
          <p:nvPr/>
        </p:nvSpPr>
        <p:spPr>
          <a:xfrm>
            <a:off x="6695440" y="2355243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Switch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3E1DCA4-6AC7-8235-6FFB-5ED81D8161EF}"/>
              </a:ext>
            </a:extLst>
          </p:cNvPr>
          <p:cNvSpPr/>
          <p:nvPr/>
        </p:nvSpPr>
        <p:spPr>
          <a:xfrm>
            <a:off x="3718560" y="634998"/>
            <a:ext cx="2092960" cy="2189481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0EB57B-4072-9C05-12A5-EAAEAC1002F8}"/>
              </a:ext>
            </a:extLst>
          </p:cNvPr>
          <p:cNvSpPr txBox="1"/>
          <p:nvPr/>
        </p:nvSpPr>
        <p:spPr>
          <a:xfrm>
            <a:off x="3749040" y="2355243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Switch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48A64D1-6412-292C-9CCC-D9862E76E449}"/>
              </a:ext>
            </a:extLst>
          </p:cNvPr>
          <p:cNvSpPr/>
          <p:nvPr/>
        </p:nvSpPr>
        <p:spPr>
          <a:xfrm>
            <a:off x="1717040" y="3407735"/>
            <a:ext cx="2092960" cy="2189481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2F5F680-8D00-5BF0-FC15-C373C1535987}"/>
              </a:ext>
            </a:extLst>
          </p:cNvPr>
          <p:cNvSpPr/>
          <p:nvPr/>
        </p:nvSpPr>
        <p:spPr>
          <a:xfrm>
            <a:off x="3810000" y="3407735"/>
            <a:ext cx="2092960" cy="2189481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3972BE-025E-A606-9DC2-3EAF73EE139E}"/>
              </a:ext>
            </a:extLst>
          </p:cNvPr>
          <p:cNvSpPr txBox="1"/>
          <p:nvPr/>
        </p:nvSpPr>
        <p:spPr>
          <a:xfrm>
            <a:off x="3840480" y="5127980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Switch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F01FD1A-C7E8-114C-C54D-887FCF8DCFD8}"/>
              </a:ext>
            </a:extLst>
          </p:cNvPr>
          <p:cNvSpPr/>
          <p:nvPr/>
        </p:nvSpPr>
        <p:spPr>
          <a:xfrm>
            <a:off x="441960" y="2492392"/>
            <a:ext cx="1757680" cy="1524003"/>
          </a:xfrm>
          <a:prstGeom prst="roundRect">
            <a:avLst/>
          </a:prstGeom>
          <a:solidFill>
            <a:schemeClr val="tx1">
              <a:lumMod val="95000"/>
              <a:lumOff val="5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57EB24B-2C3B-EA10-1EA3-C4EC7BF12D54}"/>
              </a:ext>
            </a:extLst>
          </p:cNvPr>
          <p:cNvSpPr/>
          <p:nvPr/>
        </p:nvSpPr>
        <p:spPr>
          <a:xfrm>
            <a:off x="5308600" y="2513655"/>
            <a:ext cx="1757680" cy="1524003"/>
          </a:xfrm>
          <a:prstGeom prst="roundRect">
            <a:avLst/>
          </a:prstGeom>
          <a:solidFill>
            <a:schemeClr val="tx1">
              <a:lumMod val="95000"/>
              <a:lumOff val="5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1A19916-74FC-0040-4AF5-1E15BD0BF4DB}"/>
              </a:ext>
            </a:extLst>
          </p:cNvPr>
          <p:cNvSpPr/>
          <p:nvPr/>
        </p:nvSpPr>
        <p:spPr>
          <a:xfrm>
            <a:off x="8890000" y="4226560"/>
            <a:ext cx="3200400" cy="2550159"/>
          </a:xfrm>
          <a:prstGeom prst="roundRect">
            <a:avLst/>
          </a:prstGeom>
          <a:solidFill>
            <a:srgbClr val="00B05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1836EF-A890-B104-97B3-5F1D8806AF18}"/>
              </a:ext>
            </a:extLst>
          </p:cNvPr>
          <p:cNvSpPr txBox="1"/>
          <p:nvPr/>
        </p:nvSpPr>
        <p:spPr>
          <a:xfrm>
            <a:off x="454660" y="3547160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Cap</a:t>
            </a:r>
            <a:endParaRPr lang="en-IN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723BAC-E590-775A-D876-919E6AB34FEE}"/>
              </a:ext>
            </a:extLst>
          </p:cNvPr>
          <p:cNvSpPr txBox="1"/>
          <p:nvPr/>
        </p:nvSpPr>
        <p:spPr>
          <a:xfrm>
            <a:off x="5331460" y="3568423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Cap</a:t>
            </a:r>
            <a:endParaRPr lang="en-IN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9C37AC-95F9-BBC9-438D-078ECBC51F08}"/>
              </a:ext>
            </a:extLst>
          </p:cNvPr>
          <p:cNvSpPr txBox="1"/>
          <p:nvPr/>
        </p:nvSpPr>
        <p:spPr>
          <a:xfrm>
            <a:off x="9113520" y="6407386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Voltage Regulators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10BD14-E4D4-A6D7-AB2F-807BE3AC113B}"/>
              </a:ext>
            </a:extLst>
          </p:cNvPr>
          <p:cNvSpPr txBox="1">
            <a:spLocks/>
          </p:cNvSpPr>
          <p:nvPr/>
        </p:nvSpPr>
        <p:spPr>
          <a:xfrm>
            <a:off x="861974" y="-67619"/>
            <a:ext cx="10081972" cy="4121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Schematic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318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74E8-3071-B45B-810D-06FA9867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50D6628C-FC32-5BCC-5F4E-E4B1EC744307}"/>
              </a:ext>
            </a:extLst>
          </p:cNvPr>
          <p:cNvSpPr txBox="1">
            <a:spLocks/>
          </p:cNvSpPr>
          <p:nvPr/>
        </p:nvSpPr>
        <p:spPr>
          <a:xfrm>
            <a:off x="838200" y="323094"/>
            <a:ext cx="1051560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Justification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5F47259-001D-5DC6-9469-05197A5D210C}"/>
              </a:ext>
            </a:extLst>
          </p:cNvPr>
          <p:cNvSpPr txBox="1">
            <a:spLocks/>
          </p:cNvSpPr>
          <p:nvPr/>
        </p:nvSpPr>
        <p:spPr>
          <a:xfrm>
            <a:off x="7066440" y="1564473"/>
            <a:ext cx="4775200" cy="23618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0C3C3D-9868-BAA0-440C-FF3122EF2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9226"/>
              </p:ext>
            </p:extLst>
          </p:nvPr>
        </p:nvGraphicFramePr>
        <p:xfrm>
          <a:off x="350360" y="1186180"/>
          <a:ext cx="11638440" cy="4211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31140">
                  <a:extLst>
                    <a:ext uri="{9D8B030D-6E8A-4147-A177-3AD203B41FA5}">
                      <a16:colId xmlns:a16="http://schemas.microsoft.com/office/drawing/2014/main" val="2302019253"/>
                    </a:ext>
                  </a:extLst>
                </a:gridCol>
                <a:gridCol w="3159760">
                  <a:extLst>
                    <a:ext uri="{9D8B030D-6E8A-4147-A177-3AD203B41FA5}">
                      <a16:colId xmlns:a16="http://schemas.microsoft.com/office/drawing/2014/main" val="141276139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3562411636"/>
                    </a:ext>
                  </a:extLst>
                </a:gridCol>
                <a:gridCol w="4579700">
                  <a:extLst>
                    <a:ext uri="{9D8B030D-6E8A-4147-A177-3AD203B41FA5}">
                      <a16:colId xmlns:a16="http://schemas.microsoft.com/office/drawing/2014/main" val="18864033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 / 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Justification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76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switching MOSFET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conduction loss, high pulse current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CMD3090L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RDS(on),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adequate current rating thus suitable for High Current Balancing path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331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Floating bias N-MOS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Logic-level gate drive, fast switching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SI2302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gate threshold, small gate charge thus suitable for low-power control switching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138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Floating bias P-MOS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High-side switching with low gate voltage, fast switching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SI2301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High-side control in floating bias circuit, small gate charge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79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Charge diode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recovery, low forward drop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Schottky structure, thus low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VF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fast switching for efficient charging of capacitor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989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V regulation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supply rail voltage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fixed 5 V output, simple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52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 V regulation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Low-voltage logic supply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LM1117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3.3 V output, enough current rating to power STM32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733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249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1E306-AF0B-0F1B-EAD4-70B9A003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>
            <a:extLst>
              <a:ext uri="{FF2B5EF4-FFF2-40B4-BE49-F238E27FC236}">
                <a16:creationId xmlns:a16="http://schemas.microsoft.com/office/drawing/2014/main" id="{3E9C2875-9567-775C-8E37-49E140747C07}"/>
              </a:ext>
            </a:extLst>
          </p:cNvPr>
          <p:cNvSpPr txBox="1">
            <a:spLocks/>
          </p:cNvSpPr>
          <p:nvPr/>
        </p:nvSpPr>
        <p:spPr>
          <a:xfrm>
            <a:off x="838200" y="323094"/>
            <a:ext cx="1051560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Providing Bias to Floating G-S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4142D45-938C-B034-08D7-CDDF90476AE2}"/>
              </a:ext>
            </a:extLst>
          </p:cNvPr>
          <p:cNvSpPr txBox="1">
            <a:spLocks/>
          </p:cNvSpPr>
          <p:nvPr/>
        </p:nvSpPr>
        <p:spPr>
          <a:xfrm>
            <a:off x="7066440" y="1564473"/>
            <a:ext cx="4775200" cy="23618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EC58B5-A5C0-311A-6BE6-6539BB299E87}"/>
              </a:ext>
            </a:extLst>
          </p:cNvPr>
          <p:cNvGrpSpPr/>
          <p:nvPr/>
        </p:nvGrpSpPr>
        <p:grpSpPr>
          <a:xfrm>
            <a:off x="4036482" y="1035661"/>
            <a:ext cx="3947014" cy="3564328"/>
            <a:chOff x="933692" y="1095972"/>
            <a:chExt cx="5083754" cy="459085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A8F28B9-633B-187B-7759-8E759832C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3692" y="1171171"/>
              <a:ext cx="5083754" cy="4515655"/>
            </a:xfrm>
            <a:prstGeom prst="rect">
              <a:avLst/>
            </a:prstGeom>
          </p:spPr>
        </p:pic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2F958E-2B5C-0E97-DB31-917CBCD5C929}"/>
                </a:ext>
              </a:extLst>
            </p:cNvPr>
            <p:cNvSpPr/>
            <p:nvPr/>
          </p:nvSpPr>
          <p:spPr>
            <a:xfrm>
              <a:off x="1743959" y="1095972"/>
              <a:ext cx="1960775" cy="4590854"/>
            </a:xfrm>
            <a:custGeom>
              <a:avLst/>
              <a:gdLst>
                <a:gd name="csX0" fmla="*/ 0 w 1960775"/>
                <a:gd name="csY0" fmla="*/ 0 h 4590854"/>
                <a:gd name="csX1" fmla="*/ 131975 w 1960775"/>
                <a:gd name="csY1" fmla="*/ 707010 h 4590854"/>
                <a:gd name="csX2" fmla="*/ 716437 w 1960775"/>
                <a:gd name="csY2" fmla="*/ 829559 h 4590854"/>
                <a:gd name="csX3" fmla="*/ 914400 w 1960775"/>
                <a:gd name="csY3" fmla="*/ 1470582 h 4590854"/>
                <a:gd name="csX4" fmla="*/ 1847654 w 1960775"/>
                <a:gd name="csY4" fmla="*/ 1593130 h 4590854"/>
                <a:gd name="csX5" fmla="*/ 1951348 w 1960775"/>
                <a:gd name="csY5" fmla="*/ 3186260 h 4590854"/>
                <a:gd name="csX6" fmla="*/ 1960775 w 1960775"/>
                <a:gd name="csY6" fmla="*/ 4590854 h 4590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60775" h="4590854">
                  <a:moveTo>
                    <a:pt x="0" y="0"/>
                  </a:moveTo>
                  <a:cubicBezTo>
                    <a:pt x="6284" y="284375"/>
                    <a:pt x="12569" y="568750"/>
                    <a:pt x="131975" y="707010"/>
                  </a:cubicBezTo>
                  <a:cubicBezTo>
                    <a:pt x="251381" y="845270"/>
                    <a:pt x="586033" y="702297"/>
                    <a:pt x="716437" y="829559"/>
                  </a:cubicBezTo>
                  <a:cubicBezTo>
                    <a:pt x="846841" y="956821"/>
                    <a:pt x="725864" y="1343320"/>
                    <a:pt x="914400" y="1470582"/>
                  </a:cubicBezTo>
                  <a:cubicBezTo>
                    <a:pt x="1102936" y="1597844"/>
                    <a:pt x="1674829" y="1307184"/>
                    <a:pt x="1847654" y="1593130"/>
                  </a:cubicBezTo>
                  <a:cubicBezTo>
                    <a:pt x="2020479" y="1879076"/>
                    <a:pt x="1932494" y="2686639"/>
                    <a:pt x="1951348" y="3186260"/>
                  </a:cubicBezTo>
                  <a:cubicBezTo>
                    <a:pt x="1970202" y="3685881"/>
                    <a:pt x="1899501" y="4568858"/>
                    <a:pt x="1960775" y="4590854"/>
                  </a:cubicBez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FF1AF14-B24E-D4AC-270A-DA17342EC541}"/>
                    </a:ext>
                  </a:extLst>
                </p14:cNvPr>
                <p14:cNvContentPartPr/>
                <p14:nvPr/>
              </p14:nvContentPartPr>
              <p14:xfrm>
                <a:off x="2393952" y="1933546"/>
                <a:ext cx="212400" cy="142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FF1AF14-B24E-D4AC-270A-DA17342EC54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71228" y="1910386"/>
                  <a:ext cx="258312" cy="1880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751CF0D-D8DF-1FAB-993B-0FFF224FCE1F}"/>
                    </a:ext>
                  </a:extLst>
                </p14:cNvPr>
                <p14:cNvContentPartPr/>
                <p14:nvPr/>
              </p14:nvContentPartPr>
              <p14:xfrm>
                <a:off x="3591672" y="2804385"/>
                <a:ext cx="145800" cy="132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751CF0D-D8DF-1FAB-993B-0FFF224FCE1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568529" y="2781687"/>
                  <a:ext cx="191623" cy="1783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8DAE81-5A50-E173-A563-232202C353D2}"/>
                    </a:ext>
                  </a:extLst>
                </p14:cNvPr>
                <p14:cNvContentPartPr/>
                <p14:nvPr/>
              </p14:nvContentPartPr>
              <p14:xfrm>
                <a:off x="3610392" y="5576025"/>
                <a:ext cx="207000" cy="84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8DAE81-5A50-E173-A563-232202C353D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87238" y="5552882"/>
                  <a:ext cx="252846" cy="13006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606496-0097-1E96-FE50-7FCC8AD2C2F8}"/>
              </a:ext>
            </a:extLst>
          </p:cNvPr>
          <p:cNvGrpSpPr/>
          <p:nvPr/>
        </p:nvGrpSpPr>
        <p:grpSpPr>
          <a:xfrm>
            <a:off x="7998321" y="1176408"/>
            <a:ext cx="3947014" cy="3505944"/>
            <a:chOff x="6757886" y="1171170"/>
            <a:chExt cx="5083754" cy="45156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116F0-9B48-6632-FDDE-8A07D6650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57886" y="1171170"/>
              <a:ext cx="5083754" cy="4515655"/>
            </a:xfrm>
            <a:prstGeom prst="rect">
              <a:avLst/>
            </a:prstGeom>
          </p:spPr>
        </p:pic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9762809-813C-F316-7827-1954883CC227}"/>
                </a:ext>
              </a:extLst>
            </p:cNvPr>
            <p:cNvSpPr/>
            <p:nvPr/>
          </p:nvSpPr>
          <p:spPr>
            <a:xfrm>
              <a:off x="8377841" y="2583235"/>
              <a:ext cx="1916229" cy="1154511"/>
            </a:xfrm>
            <a:custGeom>
              <a:avLst/>
              <a:gdLst>
                <a:gd name="csX0" fmla="*/ 1916229 w 1916229"/>
                <a:gd name="csY0" fmla="*/ 1093219 h 1154511"/>
                <a:gd name="csX1" fmla="*/ 1086670 w 1916229"/>
                <a:gd name="csY1" fmla="*/ 951817 h 1154511"/>
                <a:gd name="csX2" fmla="*/ 926415 w 1916229"/>
                <a:gd name="csY2" fmla="*/ 122258 h 1154511"/>
                <a:gd name="csX3" fmla="*/ 115710 w 1916229"/>
                <a:gd name="csY3" fmla="*/ 103404 h 1154511"/>
                <a:gd name="csX4" fmla="*/ 49722 w 1916229"/>
                <a:gd name="csY4" fmla="*/ 1064938 h 1154511"/>
                <a:gd name="csX5" fmla="*/ 539916 w 1916229"/>
                <a:gd name="csY5" fmla="*/ 1074365 h 1154511"/>
                <a:gd name="csX6" fmla="*/ 653037 w 1916229"/>
                <a:gd name="csY6" fmla="*/ 725573 h 1154511"/>
                <a:gd name="csX7" fmla="*/ 1689986 w 1916229"/>
                <a:gd name="csY7" fmla="*/ 697293 h 1154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16229" h="1154511">
                  <a:moveTo>
                    <a:pt x="1916229" y="1093219"/>
                  </a:moveTo>
                  <a:cubicBezTo>
                    <a:pt x="1583934" y="1103431"/>
                    <a:pt x="1251639" y="1113644"/>
                    <a:pt x="1086670" y="951817"/>
                  </a:cubicBezTo>
                  <a:cubicBezTo>
                    <a:pt x="921701" y="789990"/>
                    <a:pt x="1088242" y="263660"/>
                    <a:pt x="926415" y="122258"/>
                  </a:cubicBezTo>
                  <a:cubicBezTo>
                    <a:pt x="764588" y="-19144"/>
                    <a:pt x="261825" y="-53709"/>
                    <a:pt x="115710" y="103404"/>
                  </a:cubicBezTo>
                  <a:cubicBezTo>
                    <a:pt x="-30405" y="260517"/>
                    <a:pt x="-20979" y="903111"/>
                    <a:pt x="49722" y="1064938"/>
                  </a:cubicBezTo>
                  <a:cubicBezTo>
                    <a:pt x="120423" y="1226765"/>
                    <a:pt x="439364" y="1130926"/>
                    <a:pt x="539916" y="1074365"/>
                  </a:cubicBezTo>
                  <a:cubicBezTo>
                    <a:pt x="640468" y="1017804"/>
                    <a:pt x="461359" y="788418"/>
                    <a:pt x="653037" y="725573"/>
                  </a:cubicBezTo>
                  <a:cubicBezTo>
                    <a:pt x="844715" y="662728"/>
                    <a:pt x="1267350" y="680010"/>
                    <a:pt x="1689986" y="697293"/>
                  </a:cubicBez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D88445-EAC7-0974-4BD0-9632330CEEFD}"/>
                    </a:ext>
                  </a:extLst>
                </p14:cNvPr>
                <p14:cNvContentPartPr/>
                <p14:nvPr/>
              </p14:nvContentPartPr>
              <p14:xfrm>
                <a:off x="9325032" y="2936865"/>
                <a:ext cx="125280" cy="123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D88445-EAC7-0974-4BD0-9632330CEE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02380" y="2913741"/>
                  <a:ext cx="171046" cy="1692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5239220-7F6B-3AF2-999E-205726A4DEA9}"/>
                    </a:ext>
                  </a:extLst>
                </p14:cNvPr>
                <p14:cNvContentPartPr/>
                <p14:nvPr/>
              </p14:nvContentPartPr>
              <p14:xfrm>
                <a:off x="8871072" y="3503145"/>
                <a:ext cx="169200" cy="83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5239220-7F6B-3AF2-999E-205726A4DEA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847894" y="3479916"/>
                  <a:ext cx="215093" cy="129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07753D3-AAA7-EA1E-AA20-5466751B90F0}"/>
                    </a:ext>
                  </a:extLst>
                </p14:cNvPr>
                <p14:cNvContentPartPr/>
                <p14:nvPr/>
              </p14:nvContentPartPr>
              <p14:xfrm>
                <a:off x="9836952" y="3214065"/>
                <a:ext cx="97920" cy="115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07753D3-AAA7-EA1E-AA20-5466751B90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814212" y="3191345"/>
                  <a:ext cx="143864" cy="1618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562C062-9FEA-ACC3-E916-FD4670DFBD6E}"/>
                    </a:ext>
                  </a:extLst>
                </p14:cNvPr>
                <p14:cNvContentPartPr/>
                <p14:nvPr/>
              </p14:nvContentPartPr>
              <p14:xfrm>
                <a:off x="8416032" y="2639145"/>
                <a:ext cx="190080" cy="172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562C062-9FEA-ACC3-E916-FD4670DFBD6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92852" y="2616431"/>
                  <a:ext cx="235977" cy="218331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314476A-408D-8C67-82C4-65EC92147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69" y="1025859"/>
            <a:ext cx="3947014" cy="3505944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F85AE15D-4E77-F291-2B03-7E060A59B61B}"/>
              </a:ext>
            </a:extLst>
          </p:cNvPr>
          <p:cNvSpPr txBox="1">
            <a:spLocks/>
          </p:cNvSpPr>
          <p:nvPr/>
        </p:nvSpPr>
        <p:spPr>
          <a:xfrm>
            <a:off x="350450" y="4753479"/>
            <a:ext cx="5745550" cy="10463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Duty Cycle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Capacitor charges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Capacitor provides Bias to G-S</a:t>
            </a:r>
          </a:p>
        </p:txBody>
      </p:sp>
    </p:spTree>
    <p:extLst>
      <p:ext uri="{BB962C8B-B14F-4D97-AF65-F5344CB8AC3E}">
        <p14:creationId xmlns:p14="http://schemas.microsoft.com/office/powerpoint/2010/main" val="840942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BC47F-60F6-4CED-8062-9605A48B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011F8C-DC08-FFF8-A8EF-024B21F05B70}"/>
              </a:ext>
            </a:extLst>
          </p:cNvPr>
          <p:cNvSpPr txBox="1"/>
          <p:nvPr/>
        </p:nvSpPr>
        <p:spPr>
          <a:xfrm>
            <a:off x="3958265" y="194892"/>
            <a:ext cx="4783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 Value Calculations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BA0F71-2DF3-7CE4-A49F-F0560D85831D}"/>
                  </a:ext>
                </a:extLst>
              </p:cNvPr>
              <p:cNvSpPr txBox="1"/>
              <p:nvPr/>
            </p:nvSpPr>
            <p:spPr>
              <a:xfrm>
                <a:off x="138904" y="841223"/>
                <a:ext cx="6061830" cy="5597814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Finding Value of Capacitor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g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g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g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g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𝑀𝑂𝑆𝐹𝐸𝑇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𝐺𝑎𝑡𝑒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𝐶h𝑎𝑟𝑔𝑒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= 18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nC</m:t>
                      </m:r>
                    </m:oMath>
                  </m:oMathPara>
                </a14:m>
                <a:endParaRPr lang="en-US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g</m:t>
                              </m:r>
                            </m:sub>
                          </m:sSub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DD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𝐷𝑖𝑜𝑑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eF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𝑜𝑟𝑤𝑎𝑟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dD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𝑟𝑜𝑝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= 5 − 0.5 = 4.5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g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= 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: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𝐶h𝑜𝑜𝑠𝑒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10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𝐵𝑢𝑓𝑓𝑒𝑟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𝑉𝑎𝑙𝑢𝑒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= 47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𝑛𝐹</m:t>
                      </m:r>
                    </m:oMath>
                  </m:oMathPara>
                </a14:m>
                <a:endParaRPr lang="en-US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∴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boot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𝟒𝟕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𝒏𝑭</m:t>
                      </m:r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g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DD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PK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4.5/1.5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3ohm </a:t>
                </a:r>
              </a:p>
              <a:p>
                <a:pPr>
                  <a:lnSpc>
                    <a:spcPct val="150000"/>
                  </a:lnSpc>
                </a:pPr>
                <a:endParaRPr lang="en-US" sz="2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BA0F71-2DF3-7CE4-A49F-F0560D858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04" y="841223"/>
                <a:ext cx="6061830" cy="5597814"/>
              </a:xfrm>
              <a:prstGeom prst="rect">
                <a:avLst/>
              </a:prstGeom>
              <a:blipFill>
                <a:blip r:embed="rId2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D2AFF2-1D7D-87C1-7112-2074C43A1BDA}"/>
                  </a:ext>
                </a:extLst>
              </p:cNvPr>
              <p:cNvSpPr txBox="1"/>
              <p:nvPr/>
            </p:nvSpPr>
            <p:spPr>
              <a:xfrm>
                <a:off x="6271854" y="866722"/>
                <a:ext cx="5920146" cy="4511107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∴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𝒐𝒉𝒎</m:t>
                      </m:r>
                    </m:oMath>
                  </m:oMathPara>
                </a14:m>
                <a:endParaRPr lang="en-US" sz="20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Choosing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Footprint</m:t>
                      </m:r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charge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3×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g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boot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= 0.46 </m:t>
                      </m:r>
                      <m:r>
                        <m:rPr>
                          <m:sty m:val="p"/>
                        </m:rP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us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(95% </m:t>
                      </m:r>
                      <m:r>
                        <m:rPr>
                          <m:sty m:val="p"/>
                        </m:rP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charged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Power dissipated (avg)</a:t>
                </a:r>
                <a:r>
                  <a:rPr lang="en-US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by resistor: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boot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boot</m:t>
                            </m:r>
                          </m:sub>
                        </m:sSub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endParaRPr lang="en-US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= 0.5*47n*4.5*4.5*10k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= 4.75 </a:t>
                </a:r>
                <a:r>
                  <a:rPr lang="en-US" sz="2000" b="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mW</a:t>
                </a:r>
                <a:endParaRPr lang="en-US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Thus </a:t>
                </a:r>
                <a:r>
                  <a:rPr lang="en-US" sz="20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0603 footprint </a:t>
                </a:r>
                <a:r>
                  <a:rPr lang="en-US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was chosen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</m:sub>
                    </m:sSub>
                  </m:oMath>
                </a14:m>
                <a:endParaRPr lang="en-US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D2AFF2-1D7D-87C1-7112-2074C43A1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854" y="866722"/>
                <a:ext cx="5920146" cy="4511107"/>
              </a:xfrm>
              <a:prstGeom prst="rect">
                <a:avLst/>
              </a:prstGeom>
              <a:blipFill>
                <a:blip r:embed="rId3"/>
                <a:stretch>
                  <a:fillRect l="-11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363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1683-7218-5170-FD68-E3B88E17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FFB9CD-27EF-C7B7-38DA-4FA717386B99}"/>
              </a:ext>
            </a:extLst>
          </p:cNvPr>
          <p:cNvSpPr txBox="1">
            <a:spLocks/>
          </p:cNvSpPr>
          <p:nvPr/>
        </p:nvSpPr>
        <p:spPr>
          <a:xfrm>
            <a:off x="909108" y="233611"/>
            <a:ext cx="10081972" cy="4121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the Gate Driver Circuit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(Modified Boot Strap Setup)</a:t>
            </a: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F1DC1C4-D31B-5F74-1439-8B6AC8760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0" t="8935" r="13059" b="15464"/>
          <a:stretch>
            <a:fillRect/>
          </a:stretch>
        </p:blipFill>
        <p:spPr>
          <a:xfrm>
            <a:off x="1050511" y="3351132"/>
            <a:ext cx="4011684" cy="3085911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B80C4EC6-1030-EDA7-EC31-59129F77485D}"/>
              </a:ext>
            </a:extLst>
          </p:cNvPr>
          <p:cNvSpPr txBox="1">
            <a:spLocks/>
          </p:cNvSpPr>
          <p:nvPr/>
        </p:nvSpPr>
        <p:spPr>
          <a:xfrm>
            <a:off x="667751" y="965514"/>
            <a:ext cx="4729237" cy="49269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can be turned on off by </a:t>
            </a: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signal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(orange jumper)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</a:t>
            </a: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floating Source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Characteristics are same as MOSFET (mirrored in origin)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B40103-3BDF-A9F2-35CD-C4C115DEB6B9}"/>
              </a:ext>
            </a:extLst>
          </p:cNvPr>
          <p:cNvGrpSpPr/>
          <p:nvPr/>
        </p:nvGrpSpPr>
        <p:grpSpPr>
          <a:xfrm>
            <a:off x="6137426" y="1354274"/>
            <a:ext cx="5145466" cy="4658497"/>
            <a:chOff x="6096000" y="1137378"/>
            <a:chExt cx="5145466" cy="465849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0D69B64-ADAC-28A7-4A80-87ADC1A8FEDA}"/>
                </a:ext>
              </a:extLst>
            </p:cNvPr>
            <p:cNvGrpSpPr/>
            <p:nvPr/>
          </p:nvGrpSpPr>
          <p:grpSpPr>
            <a:xfrm>
              <a:off x="6096000" y="1137378"/>
              <a:ext cx="5145466" cy="4386727"/>
              <a:chOff x="5249812" y="1305612"/>
              <a:chExt cx="6370163" cy="424677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EFAAE3D-C177-A618-2E90-EC01A71D57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49812" y="1305612"/>
                <a:ext cx="6370163" cy="424677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2E1A92-CE98-E10D-5860-5DECDE16FD86}"/>
                  </a:ext>
                </a:extLst>
              </p:cNvPr>
              <p:cNvSpPr txBox="1"/>
              <p:nvPr/>
            </p:nvSpPr>
            <p:spPr>
              <a:xfrm>
                <a:off x="11152684" y="3428999"/>
                <a:ext cx="43473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Vds</a:t>
                </a:r>
                <a:endParaRPr lang="en-IN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7D3208-E51E-660E-0F04-09DA55C88182}"/>
                  </a:ext>
                </a:extLst>
              </p:cNvPr>
              <p:cNvSpPr txBox="1"/>
              <p:nvPr/>
            </p:nvSpPr>
            <p:spPr>
              <a:xfrm>
                <a:off x="8434894" y="1305612"/>
                <a:ext cx="35137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Id</a:t>
                </a:r>
                <a:endParaRPr lang="en-IN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BDFB122-9C04-4E7A-D521-E90E4296B4A4}"/>
                </a:ext>
              </a:extLst>
            </p:cNvPr>
            <p:cNvSpPr txBox="1"/>
            <p:nvPr/>
          </p:nvSpPr>
          <p:spPr>
            <a:xfrm>
              <a:off x="7659482" y="5534265"/>
              <a:ext cx="20185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OUTPUT CHARACTERISTICS</a:t>
              </a:r>
              <a:endParaRPr lang="en-IN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97720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4C5F-8949-2EC7-F00D-D6E9EF0E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F6F9608-4750-C652-FE88-0FBCFD9911FB}"/>
              </a:ext>
            </a:extLst>
          </p:cNvPr>
          <p:cNvSpPr txBox="1">
            <a:spLocks/>
          </p:cNvSpPr>
          <p:nvPr/>
        </p:nvSpPr>
        <p:spPr>
          <a:xfrm>
            <a:off x="909108" y="299599"/>
            <a:ext cx="10081972" cy="4121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Balancing Circuit Testing</a:t>
            </a:r>
            <a:endParaRPr lang="en-US" sz="3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882C3389-9D7B-FBC1-B35C-398EEC729B76}"/>
              </a:ext>
            </a:extLst>
          </p:cNvPr>
          <p:cNvSpPr txBox="1">
            <a:spLocks/>
          </p:cNvSpPr>
          <p:nvPr/>
        </p:nvSpPr>
        <p:spPr>
          <a:xfrm>
            <a:off x="648898" y="1531123"/>
            <a:ext cx="3828835" cy="49269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Perf. Board prototype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cell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Balancing at a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 Pulses controlled by STM32F411</a:t>
            </a: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 Gate driver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for each switch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Powered by the Cell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itself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535D48-DFB2-6C69-9370-3DC4B87F5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2" t="4995" r="7142" b="6860"/>
          <a:stretch>
            <a:fillRect/>
          </a:stretch>
        </p:blipFill>
        <p:spPr>
          <a:xfrm>
            <a:off x="5486400" y="1366887"/>
            <a:ext cx="5920033" cy="486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968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D4AA-BCC0-2A10-97C9-B7A80C99D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AE09-9E8B-5F66-D2D9-81AC64D1D873}"/>
              </a:ext>
            </a:extLst>
          </p:cNvPr>
          <p:cNvSpPr txBox="1">
            <a:spLocks/>
          </p:cNvSpPr>
          <p:nvPr/>
        </p:nvSpPr>
        <p:spPr>
          <a:xfrm>
            <a:off x="918535" y="195904"/>
            <a:ext cx="10081972" cy="4121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Balancing Circuit Testing</a:t>
            </a:r>
            <a:endParaRPr lang="en-US" sz="3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DE833B-586B-E69F-EA10-038FAF59DD78}"/>
              </a:ext>
            </a:extLst>
          </p:cNvPr>
          <p:cNvSpPr txBox="1"/>
          <p:nvPr/>
        </p:nvSpPr>
        <p:spPr>
          <a:xfrm>
            <a:off x="6712418" y="634895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Cell Voltage CHARACTERISTICS</a:t>
            </a:r>
            <a:endParaRPr lang="en-IN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E0CAAEE8-BD95-4347-2948-3E5FBD41A3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4120" y="1421979"/>
                <a:ext cx="3564882" cy="4926972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 1 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start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b="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end</m:t>
                        </m:r>
                      </m:sub>
                    </m:sSub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endParaRPr lang="en-US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 2 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start</m:t>
                        </m:r>
                      </m:sub>
                    </m:sSub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end</m:t>
                        </m:r>
                      </m:sub>
                    </m:sSub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Settle time : 5000sec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 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(approx. 1.5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hr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 Voltage Drained by both, </a:t>
                </a:r>
                <a:r>
                  <a:rPr lang="en-US" sz="24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 Balancing, Powering BMS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circuit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E0CAAEE8-BD95-4347-2948-3E5FBD41A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20" y="1421979"/>
                <a:ext cx="3564882" cy="4926972"/>
              </a:xfrm>
              <a:prstGeom prst="rect">
                <a:avLst/>
              </a:prstGeom>
              <a:blipFill>
                <a:blip r:embed="rId3"/>
                <a:stretch>
                  <a:fillRect l="-2222" t="-1733" r="-20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7B3AE934-591E-470C-08B6-F00B92E2C5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123" y="936132"/>
            <a:ext cx="8119228" cy="54128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28786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C974-4B84-878E-51A9-F2426C791CD9}"/>
              </a:ext>
            </a:extLst>
          </p:cNvPr>
          <p:cNvSpPr txBox="1">
            <a:spLocks/>
          </p:cNvSpPr>
          <p:nvPr/>
        </p:nvSpPr>
        <p:spPr>
          <a:xfrm>
            <a:off x="838200" y="140177"/>
            <a:ext cx="10515600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PCB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73D9F-5EA7-DF53-E3D5-9A55F7E69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239" y="920157"/>
            <a:ext cx="3509012" cy="4759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23E6D5-C495-B73F-DCFF-7F980796B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092" y="920158"/>
            <a:ext cx="3463996" cy="4759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E80EBA-5F49-B8CA-AB08-8F578429BBD8}"/>
              </a:ext>
            </a:extLst>
          </p:cNvPr>
          <p:cNvSpPr txBox="1"/>
          <p:nvPr/>
        </p:nvSpPr>
        <p:spPr>
          <a:xfrm>
            <a:off x="5909945" y="562936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6CEBBD-5364-3C7B-4E37-26E8B3AF0D03}"/>
              </a:ext>
            </a:extLst>
          </p:cNvPr>
          <p:cNvSpPr txBox="1"/>
          <p:nvPr/>
        </p:nvSpPr>
        <p:spPr>
          <a:xfrm>
            <a:off x="9282531" y="5629364"/>
            <a:ext cx="130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BOTTOM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1614D27-8A64-3C49-B03D-D326804CA8AE}"/>
              </a:ext>
            </a:extLst>
          </p:cNvPr>
          <p:cNvSpPr txBox="1">
            <a:spLocks/>
          </p:cNvSpPr>
          <p:nvPr/>
        </p:nvSpPr>
        <p:spPr>
          <a:xfrm>
            <a:off x="504218" y="654606"/>
            <a:ext cx="4480352" cy="49269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side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</a:t>
            </a:r>
            <a:r>
              <a:rPr lang="en-US" sz="2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</a:t>
            </a:r>
            <a:r>
              <a:rPr lang="en-US" sz="2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 Blocks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I/P @ O/P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 side: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 </a:t>
            </a:r>
            <a:r>
              <a:rPr lang="en-US" sz="2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Floating Bias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</a:t>
            </a:r>
            <a:r>
              <a:rPr lang="en-US" sz="2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 Circuit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oz Copper)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: 25mil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: 6 mil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Drill : 12 mil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 : 16 mil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36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2847</TotalTime>
  <Words>2746</Words>
  <Application>Microsoft Office PowerPoint</Application>
  <PresentationFormat>Widescreen</PresentationFormat>
  <Paragraphs>745</Paragraphs>
  <Slides>57</Slides>
  <Notes>1</Notes>
  <HiddenSlides>21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Arial</vt:lpstr>
      <vt:lpstr>Calibri</vt:lpstr>
      <vt:lpstr>Calibri Light</vt:lpstr>
      <vt:lpstr>Cambria Math</vt:lpstr>
      <vt:lpstr>Cascadia Code</vt:lpstr>
      <vt:lpstr>Cascadia Mono</vt:lpstr>
      <vt:lpstr>Lato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Kaustubh Joshi</dc:creator>
  <cp:lastModifiedBy>Kaustubh Joshi</cp:lastModifiedBy>
  <cp:revision>29</cp:revision>
  <dcterms:created xsi:type="dcterms:W3CDTF">2026-03-10T10:48:26Z</dcterms:created>
  <dcterms:modified xsi:type="dcterms:W3CDTF">2026-05-14T06:56:01Z</dcterms:modified>
</cp:coreProperties>
</file>